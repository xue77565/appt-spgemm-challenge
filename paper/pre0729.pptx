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17"/>
  </p:handoutMasterIdLst>
  <p:sldIdLst>
    <p:sldId id="1589" r:id="rId4"/>
    <p:sldId id="11089830" r:id="rId6"/>
    <p:sldId id="11089829" r:id="rId7"/>
    <p:sldId id="11089819" r:id="rId8"/>
    <p:sldId id="11089820" r:id="rId9"/>
    <p:sldId id="11089821" r:id="rId10"/>
    <p:sldId id="11089822" r:id="rId11"/>
    <p:sldId id="11089823" r:id="rId12"/>
    <p:sldId id="11089825" r:id="rId13"/>
    <p:sldId id="11089816" r:id="rId14"/>
    <p:sldId id="11089826" r:id="rId15"/>
    <p:sldId id="1108983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2" userDrawn="1">
          <p15:clr>
            <a:srgbClr val="A4A3A4"/>
          </p15:clr>
        </p15:guide>
        <p15:guide id="2" pos="361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ker" initials="j" lastIdx="0" clrIdx="0"/>
  <p:cmAuthor id="2" name="ss" initials="s" lastIdx="1" clrIdx="1"/>
  <p:cmAuthor id="3" name="webuser" initials="webuser" lastIdx="3" clrIdx="2"/>
  <p:cmAuthor id="4" name="TAN Hai-Ning" initials="MOU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6CCFF"/>
    <a:srgbClr val="1485A4"/>
    <a:srgbClr val="DAEFF2"/>
    <a:srgbClr val="E2EAFD"/>
    <a:srgbClr val="A6A6A6"/>
    <a:srgbClr val="0D77C3"/>
    <a:srgbClr val="BDD6F0"/>
    <a:srgbClr val="CAECF2"/>
    <a:srgbClr val="90D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60" autoAdjust="0"/>
    <p:restoredTop sz="74673" autoAdjust="0"/>
  </p:normalViewPr>
  <p:slideViewPr>
    <p:cSldViewPr snapToGrid="0" showGuides="1">
      <p:cViewPr>
        <p:scale>
          <a:sx n="300" d="100"/>
          <a:sy n="300" d="100"/>
        </p:scale>
        <p:origin x="-8826" y="-7140"/>
      </p:cViewPr>
      <p:guideLst>
        <p:guide orient="horz" pos="2362"/>
        <p:guide pos="3615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07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530C1-7B80-4F9D-874D-22D26909CA7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19" y="2131188"/>
            <a:ext cx="10364534" cy="1469071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690" y="3886752"/>
            <a:ext cx="8532991" cy="1752381"/>
          </a:xfrm>
        </p:spPr>
        <p:txBody>
          <a:bodyPr/>
          <a:lstStyle>
            <a:lvl1pPr marL="0" indent="0" algn="ctr">
              <a:buNone/>
              <a:defRPr/>
            </a:lvl1pPr>
            <a:lvl2pPr marL="458470" indent="0" algn="ctr">
              <a:buNone/>
              <a:defRPr/>
            </a:lvl2pPr>
            <a:lvl3pPr marL="916940" indent="0" algn="ctr">
              <a:buNone/>
              <a:defRPr/>
            </a:lvl3pPr>
            <a:lvl4pPr marL="1375410" indent="0" algn="ctr">
              <a:buNone/>
              <a:defRPr/>
            </a:lvl4pPr>
            <a:lvl5pPr marL="1833245" indent="0" algn="ctr">
              <a:buNone/>
              <a:defRPr/>
            </a:lvl5pPr>
            <a:lvl6pPr marL="2291715" indent="0" algn="ctr">
              <a:buNone/>
              <a:defRPr/>
            </a:lvl6pPr>
            <a:lvl7pPr marL="2750185" indent="0" algn="ctr">
              <a:buNone/>
              <a:defRPr/>
            </a:lvl7pPr>
            <a:lvl8pPr marL="3208655" indent="0" algn="ctr">
              <a:buNone/>
              <a:defRPr/>
            </a:lvl8pPr>
            <a:lvl9pPr marL="3667125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970" y="4407214"/>
            <a:ext cx="10362681" cy="1362432"/>
          </a:xfrm>
        </p:spPr>
        <p:txBody>
          <a:bodyPr/>
          <a:lstStyle>
            <a:lvl1pPr algn="l">
              <a:defRPr sz="401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970" y="2906310"/>
            <a:ext cx="10362681" cy="1500904"/>
          </a:xfrm>
        </p:spPr>
        <p:txBody>
          <a:bodyPr anchor="b"/>
          <a:lstStyle>
            <a:lvl1pPr marL="0" indent="0">
              <a:buNone/>
              <a:defRPr sz="2005"/>
            </a:lvl1pPr>
            <a:lvl2pPr marL="458470" indent="0">
              <a:buNone/>
              <a:defRPr sz="1805"/>
            </a:lvl2pPr>
            <a:lvl3pPr marL="916940" indent="0">
              <a:buNone/>
              <a:defRPr sz="1605"/>
            </a:lvl3pPr>
            <a:lvl4pPr marL="1375410" indent="0">
              <a:buNone/>
              <a:defRPr sz="1405"/>
            </a:lvl4pPr>
            <a:lvl5pPr marL="1833245" indent="0">
              <a:buNone/>
              <a:defRPr sz="1405"/>
            </a:lvl5pPr>
            <a:lvl6pPr marL="2291715" indent="0">
              <a:buNone/>
              <a:defRPr sz="1405"/>
            </a:lvl6pPr>
            <a:lvl7pPr marL="2750185" indent="0">
              <a:buNone/>
              <a:defRPr sz="1405"/>
            </a:lvl7pPr>
            <a:lvl8pPr marL="3208655" indent="0">
              <a:buNone/>
              <a:defRPr sz="1405"/>
            </a:lvl8pPr>
            <a:lvl9pPr marL="3667125" indent="0">
              <a:buNone/>
              <a:defRPr sz="140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897" y="1811271"/>
            <a:ext cx="5396379" cy="4141412"/>
          </a:xfrm>
        </p:spPr>
        <p:txBody>
          <a:bodyPr/>
          <a:lstStyle>
            <a:lvl1pPr>
              <a:defRPr sz="2805"/>
            </a:lvl1pPr>
            <a:lvl2pPr>
              <a:defRPr sz="2405"/>
            </a:lvl2pPr>
            <a:lvl3pPr>
              <a:defRPr sz="2005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4240" y="1811271"/>
            <a:ext cx="5398234" cy="4141412"/>
          </a:xfrm>
        </p:spPr>
        <p:txBody>
          <a:bodyPr/>
          <a:lstStyle>
            <a:lvl1pPr>
              <a:defRPr sz="2805"/>
            </a:lvl1pPr>
            <a:lvl2pPr>
              <a:defRPr sz="2405"/>
            </a:lvl2pPr>
            <a:lvl3pPr>
              <a:defRPr sz="2005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97" y="275352"/>
            <a:ext cx="10972577" cy="1142788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97" y="1535920"/>
            <a:ext cx="5387111" cy="639834"/>
          </a:xfrm>
        </p:spPr>
        <p:txBody>
          <a:bodyPr anchor="b"/>
          <a:lstStyle>
            <a:lvl1pPr marL="0" indent="0">
              <a:buNone/>
              <a:defRPr sz="2405" b="1"/>
            </a:lvl1pPr>
            <a:lvl2pPr marL="458470" indent="0">
              <a:buNone/>
              <a:defRPr sz="2005" b="1"/>
            </a:lvl2pPr>
            <a:lvl3pPr marL="916940" indent="0">
              <a:buNone/>
              <a:defRPr sz="1805" b="1"/>
            </a:lvl3pPr>
            <a:lvl4pPr marL="1375410" indent="0">
              <a:buNone/>
              <a:defRPr sz="1605" b="1"/>
            </a:lvl4pPr>
            <a:lvl5pPr marL="1833245" indent="0">
              <a:buNone/>
              <a:defRPr sz="1605" b="1"/>
            </a:lvl5pPr>
            <a:lvl6pPr marL="2291715" indent="0">
              <a:buNone/>
              <a:defRPr sz="1605" b="1"/>
            </a:lvl6pPr>
            <a:lvl7pPr marL="2750185" indent="0">
              <a:buNone/>
              <a:defRPr sz="1605" b="1"/>
            </a:lvl7pPr>
            <a:lvl8pPr marL="3208655" indent="0">
              <a:buNone/>
              <a:defRPr sz="1605" b="1"/>
            </a:lvl8pPr>
            <a:lvl9pPr marL="3667125" indent="0">
              <a:buNone/>
              <a:defRPr sz="1605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897" y="2175754"/>
            <a:ext cx="5387111" cy="3950417"/>
          </a:xfrm>
        </p:spPr>
        <p:txBody>
          <a:bodyPr/>
          <a:lstStyle>
            <a:lvl1pPr>
              <a:defRPr sz="2405"/>
            </a:lvl1pPr>
            <a:lvl2pPr>
              <a:defRPr sz="2005"/>
            </a:lvl2pPr>
            <a:lvl3pPr>
              <a:defRPr sz="1805"/>
            </a:lvl3pPr>
            <a:lvl4pPr>
              <a:defRPr sz="1605"/>
            </a:lvl4pPr>
            <a:lvl5pPr>
              <a:defRPr sz="1605"/>
            </a:lvl5pPr>
            <a:lvl6pPr>
              <a:defRPr sz="1605"/>
            </a:lvl6pPr>
            <a:lvl7pPr>
              <a:defRPr sz="1605"/>
            </a:lvl7pPr>
            <a:lvl8pPr>
              <a:defRPr sz="1605"/>
            </a:lvl8pPr>
            <a:lvl9pPr>
              <a:defRPr sz="160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510" y="1535920"/>
            <a:ext cx="5388964" cy="639834"/>
          </a:xfrm>
        </p:spPr>
        <p:txBody>
          <a:bodyPr anchor="b"/>
          <a:lstStyle>
            <a:lvl1pPr marL="0" indent="0">
              <a:buNone/>
              <a:defRPr sz="2405" b="1"/>
            </a:lvl1pPr>
            <a:lvl2pPr marL="458470" indent="0">
              <a:buNone/>
              <a:defRPr sz="2005" b="1"/>
            </a:lvl2pPr>
            <a:lvl3pPr marL="916940" indent="0">
              <a:buNone/>
              <a:defRPr sz="1805" b="1"/>
            </a:lvl3pPr>
            <a:lvl4pPr marL="1375410" indent="0">
              <a:buNone/>
              <a:defRPr sz="1605" b="1"/>
            </a:lvl4pPr>
            <a:lvl5pPr marL="1833245" indent="0">
              <a:buNone/>
              <a:defRPr sz="1605" b="1"/>
            </a:lvl5pPr>
            <a:lvl6pPr marL="2291715" indent="0">
              <a:buNone/>
              <a:defRPr sz="1605" b="1"/>
            </a:lvl6pPr>
            <a:lvl7pPr marL="2750185" indent="0">
              <a:buNone/>
              <a:defRPr sz="1605" b="1"/>
            </a:lvl7pPr>
            <a:lvl8pPr marL="3208655" indent="0">
              <a:buNone/>
              <a:defRPr sz="1605" b="1"/>
            </a:lvl8pPr>
            <a:lvl9pPr marL="3667125" indent="0">
              <a:buNone/>
              <a:defRPr sz="1605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510" y="2175754"/>
            <a:ext cx="5388964" cy="3950417"/>
          </a:xfrm>
        </p:spPr>
        <p:txBody>
          <a:bodyPr/>
          <a:lstStyle>
            <a:lvl1pPr>
              <a:defRPr sz="2405"/>
            </a:lvl1pPr>
            <a:lvl2pPr>
              <a:defRPr sz="2005"/>
            </a:lvl2pPr>
            <a:lvl3pPr>
              <a:defRPr sz="1805"/>
            </a:lvl3pPr>
            <a:lvl4pPr>
              <a:defRPr sz="1605"/>
            </a:lvl4pPr>
            <a:lvl5pPr>
              <a:defRPr sz="1605"/>
            </a:lvl5pPr>
            <a:lvl6pPr>
              <a:defRPr sz="1605"/>
            </a:lvl6pPr>
            <a:lvl7pPr>
              <a:defRPr sz="1605"/>
            </a:lvl7pPr>
            <a:lvl8pPr>
              <a:defRPr sz="1605"/>
            </a:lvl8pPr>
            <a:lvl9pPr>
              <a:defRPr sz="160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97" y="273760"/>
            <a:ext cx="4011600" cy="1161887"/>
          </a:xfrm>
        </p:spPr>
        <p:txBody>
          <a:bodyPr anchor="b"/>
          <a:lstStyle>
            <a:lvl1pPr algn="l">
              <a:defRPr sz="2005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092" y="273760"/>
            <a:ext cx="6816382" cy="5852411"/>
          </a:xfrm>
        </p:spPr>
        <p:txBody>
          <a:bodyPr/>
          <a:lstStyle>
            <a:lvl1pPr>
              <a:defRPr sz="3210"/>
            </a:lvl1pPr>
            <a:lvl2pPr>
              <a:defRPr sz="2805"/>
            </a:lvl2pPr>
            <a:lvl3pPr>
              <a:defRPr sz="2405"/>
            </a:lvl3pPr>
            <a:lvl4pPr>
              <a:defRPr sz="2005"/>
            </a:lvl4pPr>
            <a:lvl5pPr>
              <a:defRPr sz="2005"/>
            </a:lvl5pPr>
            <a:lvl6pPr>
              <a:defRPr sz="2005"/>
            </a:lvl6pPr>
            <a:lvl7pPr>
              <a:defRPr sz="2005"/>
            </a:lvl7pPr>
            <a:lvl8pPr>
              <a:defRPr sz="2005"/>
            </a:lvl8pPr>
            <a:lvl9pPr>
              <a:defRPr sz="200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897" y="1435647"/>
            <a:ext cx="4011600" cy="4690524"/>
          </a:xfrm>
        </p:spPr>
        <p:txBody>
          <a:bodyPr/>
          <a:lstStyle>
            <a:lvl1pPr marL="0" indent="0">
              <a:buNone/>
              <a:defRPr sz="1405"/>
            </a:lvl1pPr>
            <a:lvl2pPr marL="458470" indent="0">
              <a:buNone/>
              <a:defRPr sz="1205"/>
            </a:lvl2pPr>
            <a:lvl3pPr marL="916940" indent="0">
              <a:buNone/>
              <a:defRPr sz="1005"/>
            </a:lvl3pPr>
            <a:lvl4pPr marL="1375410" indent="0">
              <a:buNone/>
              <a:defRPr sz="900"/>
            </a:lvl4pPr>
            <a:lvl5pPr marL="1833245" indent="0">
              <a:buNone/>
              <a:defRPr sz="900"/>
            </a:lvl5pPr>
            <a:lvl6pPr marL="2291715" indent="0">
              <a:buNone/>
              <a:defRPr sz="900"/>
            </a:lvl6pPr>
            <a:lvl7pPr marL="2750185" indent="0">
              <a:buNone/>
              <a:defRPr sz="900"/>
            </a:lvl7pPr>
            <a:lvl8pPr marL="3208655" indent="0">
              <a:buNone/>
              <a:defRPr sz="900"/>
            </a:lvl8pPr>
            <a:lvl9pPr marL="3667125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535" y="4800345"/>
            <a:ext cx="7315052" cy="566619"/>
          </a:xfrm>
        </p:spPr>
        <p:txBody>
          <a:bodyPr anchor="b"/>
          <a:lstStyle>
            <a:lvl1pPr algn="l">
              <a:defRPr sz="2005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535" y="612777"/>
            <a:ext cx="7315052" cy="4114354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10"/>
            </a:lvl1pPr>
            <a:lvl2pPr marL="458470" indent="0">
              <a:buNone/>
              <a:defRPr sz="2805"/>
            </a:lvl2pPr>
            <a:lvl3pPr marL="916940" indent="0">
              <a:buNone/>
              <a:defRPr sz="2405"/>
            </a:lvl3pPr>
            <a:lvl4pPr marL="1375410" indent="0">
              <a:buNone/>
              <a:defRPr sz="2005"/>
            </a:lvl4pPr>
            <a:lvl5pPr marL="1833245" indent="0">
              <a:buNone/>
              <a:defRPr sz="2005"/>
            </a:lvl5pPr>
            <a:lvl6pPr marL="2291715" indent="0">
              <a:buNone/>
              <a:defRPr sz="2005"/>
            </a:lvl6pPr>
            <a:lvl7pPr marL="2750185" indent="0">
              <a:buNone/>
              <a:defRPr sz="2005"/>
            </a:lvl7pPr>
            <a:lvl8pPr marL="3208655" indent="0">
              <a:buNone/>
              <a:defRPr sz="2005"/>
            </a:lvl8pPr>
            <a:lvl9pPr marL="3667125" indent="0">
              <a:buNone/>
              <a:defRPr sz="2005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535" y="5366964"/>
            <a:ext cx="7315052" cy="805363"/>
          </a:xfrm>
        </p:spPr>
        <p:txBody>
          <a:bodyPr/>
          <a:lstStyle>
            <a:lvl1pPr marL="0" indent="0">
              <a:buNone/>
              <a:defRPr sz="1405"/>
            </a:lvl1pPr>
            <a:lvl2pPr marL="458470" indent="0">
              <a:buNone/>
              <a:defRPr sz="1205"/>
            </a:lvl2pPr>
            <a:lvl3pPr marL="916940" indent="0">
              <a:buNone/>
              <a:defRPr sz="1005"/>
            </a:lvl3pPr>
            <a:lvl4pPr marL="1375410" indent="0">
              <a:buNone/>
              <a:defRPr sz="900"/>
            </a:lvl4pPr>
            <a:lvl5pPr marL="1833245" indent="0">
              <a:buNone/>
              <a:defRPr sz="900"/>
            </a:lvl5pPr>
            <a:lvl6pPr marL="2291715" indent="0">
              <a:buNone/>
              <a:defRPr sz="900"/>
            </a:lvl6pPr>
            <a:lvl7pPr marL="2750185" indent="0">
              <a:buNone/>
              <a:defRPr sz="900"/>
            </a:lvl7pPr>
            <a:lvl8pPr marL="3208655" indent="0">
              <a:buNone/>
              <a:defRPr sz="900"/>
            </a:lvl8pPr>
            <a:lvl9pPr marL="3667125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1843" y="908819"/>
            <a:ext cx="2745461" cy="5043864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897" y="908819"/>
            <a:ext cx="8063982" cy="5043864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897" y="908819"/>
            <a:ext cx="10987407" cy="504386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978801" y="6372872"/>
            <a:ext cx="3203348" cy="366074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716039" y="6372872"/>
            <a:ext cx="4805021" cy="366074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54952" y="6372872"/>
            <a:ext cx="3203348" cy="366074"/>
          </a:xfrm>
        </p:spPr>
        <p:txBody>
          <a:bodyPr/>
          <a:lstStyle/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24728" y="908819"/>
            <a:ext cx="10972577" cy="77353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897" y="1811271"/>
            <a:ext cx="10972577" cy="41414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325120"/>
            <a:r>
              <a:rPr lang="zh-CN" altLang="en-US" dirty="0"/>
              <a:t>第二级</a:t>
            </a:r>
            <a:endParaRPr lang="zh-CN" altLang="en-US" dirty="0"/>
          </a:p>
          <a:p>
            <a:pPr lvl="2" indent="-350520"/>
            <a:r>
              <a:rPr lang="zh-CN" altLang="en-US" dirty="0"/>
              <a:t>第三级</a:t>
            </a:r>
            <a:endParaRPr lang="zh-CN" altLang="en-US" dirty="0"/>
          </a:p>
          <a:p>
            <a:pPr lvl="3" indent="-315595"/>
            <a:r>
              <a:rPr lang="zh-CN" altLang="en-US" dirty="0"/>
              <a:t>第四级</a:t>
            </a:r>
            <a:endParaRPr lang="zh-CN" altLang="en-US" dirty="0"/>
          </a:p>
          <a:p>
            <a:pPr lvl="4" indent="-339725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0" y="0"/>
            <a:ext cx="12192371" cy="692358"/>
          </a:xfrm>
          <a:prstGeom prst="rect">
            <a:avLst/>
          </a:prstGeom>
          <a:solidFill>
            <a:srgbClr val="0070C0">
              <a:alpha val="94901"/>
            </a:srgbClr>
          </a:solidFill>
          <a:ln>
            <a:noFill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5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Text Box 11"/>
          <p:cNvSpPr txBox="1"/>
          <p:nvPr/>
        </p:nvSpPr>
        <p:spPr>
          <a:xfrm>
            <a:off x="5961786" y="6490653"/>
            <a:ext cx="669218" cy="1066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 altLang="zh-CN" sz="100" b="1" dirty="0">
                <a:solidFill>
                  <a:srgbClr val="10218B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fld>
            <a:endParaRPr lang="en-US" altLang="zh-CN" sz="100" b="1">
              <a:solidFill>
                <a:srgbClr val="10218B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8026-CC08-4114-89D9-E02AF985BF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1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3535" indent="-34353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10">
          <a:solidFill>
            <a:schemeClr val="tx1"/>
          </a:solidFill>
          <a:latin typeface="+mn-lt"/>
          <a:ea typeface="+mn-ea"/>
          <a:cs typeface="+mn-cs"/>
        </a:defRPr>
      </a:lvl1pPr>
      <a:lvl2pPr marL="671830" indent="-32639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5">
          <a:solidFill>
            <a:schemeClr val="tx1"/>
          </a:solidFill>
          <a:latin typeface="+mn-lt"/>
          <a:ea typeface="+mn-ea"/>
        </a:defRPr>
      </a:lvl2pPr>
      <a:lvl3pPr marL="1024890" indent="-35179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5">
          <a:solidFill>
            <a:schemeClr val="tx1"/>
          </a:solidFill>
          <a:latin typeface="+mn-lt"/>
          <a:ea typeface="+mn-ea"/>
        </a:defRPr>
      </a:lvl3pPr>
      <a:lvl4pPr marL="1343025" indent="-31686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5">
          <a:solidFill>
            <a:schemeClr val="tx1"/>
          </a:solidFill>
          <a:latin typeface="+mn-lt"/>
          <a:ea typeface="+mn-ea"/>
        </a:defRPr>
      </a:lvl4pPr>
      <a:lvl5pPr marL="1685925" indent="-34036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5">
          <a:solidFill>
            <a:schemeClr val="tx1"/>
          </a:solidFill>
          <a:latin typeface="+mn-lt"/>
          <a:ea typeface="+mn-ea"/>
        </a:defRPr>
      </a:lvl5pPr>
      <a:lvl6pPr marL="2144395" indent="-3403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5">
          <a:solidFill>
            <a:schemeClr val="tx1"/>
          </a:solidFill>
          <a:latin typeface="+mn-lt"/>
          <a:ea typeface="+mn-ea"/>
        </a:defRPr>
      </a:lvl6pPr>
      <a:lvl7pPr marL="2602865" indent="-3403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5">
          <a:solidFill>
            <a:schemeClr val="tx1"/>
          </a:solidFill>
          <a:latin typeface="+mn-lt"/>
          <a:ea typeface="+mn-ea"/>
        </a:defRPr>
      </a:lvl7pPr>
      <a:lvl8pPr marL="3060700" indent="-3403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5">
          <a:solidFill>
            <a:schemeClr val="tx1"/>
          </a:solidFill>
          <a:latin typeface="+mn-lt"/>
          <a:ea typeface="+mn-ea"/>
        </a:defRPr>
      </a:lvl8pPr>
      <a:lvl9pPr marL="3519170" indent="-3403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47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94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41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24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1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18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65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712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6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3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image" Target="../media/image4.png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26.xml"/><Relationship Id="rId7" Type="http://schemas.openxmlformats.org/officeDocument/2006/relationships/image" Target="../media/image6.png"/><Relationship Id="rId6" Type="http://schemas.openxmlformats.org/officeDocument/2006/relationships/tags" Target="../tags/tag25.xml"/><Relationship Id="rId5" Type="http://schemas.openxmlformats.org/officeDocument/2006/relationships/image" Target="../media/image3.png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image" Target="../media/image5.png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image" Target="../media/image3.png"/><Relationship Id="rId2" Type="http://schemas.openxmlformats.org/officeDocument/2006/relationships/tags" Target="../tags/tag30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7.xml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image" Target="../media/image3.png"/><Relationship Id="rId2" Type="http://schemas.openxmlformats.org/officeDocument/2006/relationships/tags" Target="../tags/tag39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tags" Target="../tags/tag43.xml"/><Relationship Id="rId1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image" Target="../media/image27.png"/><Relationship Id="rId6" Type="http://schemas.openxmlformats.org/officeDocument/2006/relationships/tags" Target="../tags/tag49.xml"/><Relationship Id="rId5" Type="http://schemas.openxmlformats.org/officeDocument/2006/relationships/image" Target="../media/image3.png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8" Type="http://schemas.openxmlformats.org/officeDocument/2006/relationships/notesSlide" Target="../notesSlides/notesSlide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55.xml"/><Relationship Id="rId25" Type="http://schemas.openxmlformats.org/officeDocument/2006/relationships/image" Target="../media/image40.png"/><Relationship Id="rId24" Type="http://schemas.openxmlformats.org/officeDocument/2006/relationships/image" Target="../media/image39.png"/><Relationship Id="rId23" Type="http://schemas.openxmlformats.org/officeDocument/2006/relationships/image" Target="../media/image38.png"/><Relationship Id="rId22" Type="http://schemas.openxmlformats.org/officeDocument/2006/relationships/image" Target="../media/image37.png"/><Relationship Id="rId21" Type="http://schemas.openxmlformats.org/officeDocument/2006/relationships/image" Target="../media/image36.png"/><Relationship Id="rId20" Type="http://schemas.openxmlformats.org/officeDocument/2006/relationships/image" Target="../media/image35.png"/><Relationship Id="rId2" Type="http://schemas.openxmlformats.org/officeDocument/2006/relationships/image" Target="../media/image26.png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image" Target="../media/image34.png"/><Relationship Id="rId16" Type="http://schemas.openxmlformats.org/officeDocument/2006/relationships/tags" Target="../tags/tag52.xml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image" Target="../media/image41.png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3.png"/><Relationship Id="rId2" Type="http://schemas.openxmlformats.org/officeDocument/2006/relationships/tags" Target="../tags/tag57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5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71.xml"/><Relationship Id="rId14" Type="http://schemas.openxmlformats.org/officeDocument/2006/relationships/image" Target="../media/image46.png"/><Relationship Id="rId13" Type="http://schemas.openxmlformats.org/officeDocument/2006/relationships/image" Target="../media/image45.png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image" Target="../media/image44.png"/><Relationship Id="rId1" Type="http://schemas.openxmlformats.org/officeDocument/2006/relationships/tags" Target="../tags/tag6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image" Target="../media/image3.png"/><Relationship Id="rId39" Type="http://schemas.openxmlformats.org/officeDocument/2006/relationships/notesSlide" Target="../notesSlides/notesSlide10.x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102.xml"/><Relationship Id="rId36" Type="http://schemas.openxmlformats.org/officeDocument/2006/relationships/tags" Target="../tags/tag101.xml"/><Relationship Id="rId35" Type="http://schemas.openxmlformats.org/officeDocument/2006/relationships/image" Target="../media/image54.png"/><Relationship Id="rId34" Type="http://schemas.openxmlformats.org/officeDocument/2006/relationships/image" Target="../media/image53.png"/><Relationship Id="rId33" Type="http://schemas.openxmlformats.org/officeDocument/2006/relationships/image" Target="../media/image52.png"/><Relationship Id="rId32" Type="http://schemas.openxmlformats.org/officeDocument/2006/relationships/image" Target="../media/image51.png"/><Relationship Id="rId31" Type="http://schemas.openxmlformats.org/officeDocument/2006/relationships/image" Target="../media/image50.png"/><Relationship Id="rId30" Type="http://schemas.openxmlformats.org/officeDocument/2006/relationships/image" Target="../media/image49.png"/><Relationship Id="rId3" Type="http://schemas.openxmlformats.org/officeDocument/2006/relationships/tags" Target="../tags/tag77.xml"/><Relationship Id="rId29" Type="http://schemas.openxmlformats.org/officeDocument/2006/relationships/image" Target="../media/image48.png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image" Target="../media/image47.png"/><Relationship Id="rId20" Type="http://schemas.openxmlformats.org/officeDocument/2006/relationships/tags" Target="../tags/tag93.xml"/><Relationship Id="rId2" Type="http://schemas.openxmlformats.org/officeDocument/2006/relationships/tags" Target="../tags/tag76.xml"/><Relationship Id="rId19" Type="http://schemas.openxmlformats.org/officeDocument/2006/relationships/tags" Target="../tags/tag92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标题 3"/>
          <p:cNvSpPr txBox="1"/>
          <p:nvPr>
            <p:custDataLst>
              <p:tags r:id="rId2"/>
            </p:custDataLst>
          </p:nvPr>
        </p:nvSpPr>
        <p:spPr>
          <a:xfrm>
            <a:off x="-2" y="1653234"/>
            <a:ext cx="12192001" cy="2029013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tIns="0" bIns="0" anchor="ctr"/>
          <a:lstStyle/>
          <a:p>
            <a:pPr lvl="0" algn="ctr"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Hash or Merge? 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ctr"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Adaptive GPU Acceleration for SpGEMM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420509" y="320507"/>
            <a:ext cx="4779791" cy="639948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980" y="274320"/>
            <a:ext cx="3272790" cy="686435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84505" y="3935730"/>
            <a:ext cx="1130554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endParaRPr lang="en-US" altLang="zh-CN" sz="2400" dirty="0" err="1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XXF.exe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:  Yizhou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ue,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Tengfei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ia,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Zhihua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an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State Key Laboratory of Processors, Institute of Computing Technology, CAS</a:t>
            </a:r>
            <a:endParaRPr lang="en-US" altLang="zh-CN" sz="2000" i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University of Chinese Academy of Sciences</a:t>
            </a:r>
            <a:endParaRPr lang="en-US" altLang="zh-CN" sz="2400" i="1" dirty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>
              <a:lnSpc>
                <a:spcPct val="125000"/>
              </a:lnSpc>
            </a:pPr>
            <a:endParaRPr lang="zh-CN" altLang="en-US" sz="2400" i="1" dirty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88290" y="30480"/>
            <a:ext cx="10709856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Background</a:t>
            </a:r>
            <a:endParaRPr kumimoji="1" 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下箭头 46"/>
          <p:cNvSpPr/>
          <p:nvPr/>
        </p:nvSpPr>
        <p:spPr>
          <a:xfrm>
            <a:off x="4811395" y="3668395"/>
            <a:ext cx="123190" cy="32385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下箭头 44"/>
          <p:cNvSpPr/>
          <p:nvPr/>
        </p:nvSpPr>
        <p:spPr>
          <a:xfrm>
            <a:off x="1362710" y="3673475"/>
            <a:ext cx="123190" cy="32385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940810" y="5974715"/>
            <a:ext cx="835025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105150" y="5974715"/>
            <a:ext cx="835025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2247900" y="5974080"/>
            <a:ext cx="857885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1076325" y="5970270"/>
            <a:ext cx="1171575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3" name="圆角矩形 212"/>
          <p:cNvSpPr/>
          <p:nvPr/>
        </p:nvSpPr>
        <p:spPr>
          <a:xfrm rot="5400000">
            <a:off x="8270240" y="1924685"/>
            <a:ext cx="1619885" cy="5187950"/>
          </a:xfrm>
          <a:prstGeom prst="roundRect">
            <a:avLst>
              <a:gd name="adj" fmla="val 11191"/>
            </a:avLst>
          </a:prstGeom>
          <a:solidFill>
            <a:srgbClr val="E5F2F5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矩形: 圆角 4"/>
          <p:cNvSpPr/>
          <p:nvPr>
            <p:custDataLst>
              <p:tags r:id="rId4"/>
            </p:custDataLst>
          </p:nvPr>
        </p:nvSpPr>
        <p:spPr>
          <a:xfrm>
            <a:off x="360680" y="2191385"/>
            <a:ext cx="5612130" cy="434022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6" name="矩形: 圆角 4"/>
          <p:cNvSpPr/>
          <p:nvPr>
            <p:custDataLst>
              <p:tags r:id="rId5"/>
            </p:custDataLst>
          </p:nvPr>
        </p:nvSpPr>
        <p:spPr>
          <a:xfrm>
            <a:off x="6219190" y="2191385"/>
            <a:ext cx="5612130" cy="434086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39" name="矩形: 圆角 38"/>
          <p:cNvSpPr/>
          <p:nvPr>
            <p:custDataLst>
              <p:tags r:id="rId6"/>
            </p:custDataLst>
          </p:nvPr>
        </p:nvSpPr>
        <p:spPr>
          <a:xfrm>
            <a:off x="360045" y="1928495"/>
            <a:ext cx="5612765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Merge-Based 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: 圆角 39"/>
          <p:cNvSpPr/>
          <p:nvPr>
            <p:custDataLst>
              <p:tags r:id="rId7"/>
            </p:custDataLst>
          </p:nvPr>
        </p:nvSpPr>
        <p:spPr>
          <a:xfrm>
            <a:off x="6219190" y="1928495"/>
            <a:ext cx="5612130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Hash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-Based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606425" y="2447925"/>
            <a:ext cx="383095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ASPLOS 21/PACT 25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6301105" y="2447925"/>
            <a:ext cx="544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PPoPP 20/ISCA 24/HPCA 25</a:t>
            </a:r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5400000">
            <a:off x="2339340" y="2529205"/>
            <a:ext cx="1619885" cy="4610100"/>
          </a:xfrm>
          <a:prstGeom prst="roundRect">
            <a:avLst>
              <a:gd name="adj" fmla="val 9819"/>
            </a:avLst>
          </a:prstGeom>
          <a:solidFill>
            <a:srgbClr val="E5F2F5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959610" y="4079240"/>
            <a:ext cx="2382520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Merge Accumulator</a:t>
            </a:r>
            <a:endParaRPr lang="en-US" altLang="zh-CN" sz="18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178560" y="4423410"/>
            <a:ext cx="3942715" cy="445770"/>
          </a:xfrm>
          <a:prstGeom prst="roundRect">
            <a:avLst>
              <a:gd name="adj" fmla="val 27350"/>
            </a:avLst>
          </a:prstGeom>
          <a:solidFill>
            <a:srgbClr val="6796EC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ln>
                <a:solidFill>
                  <a:sysClr val="windowText" lastClr="000000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626235" y="4392295"/>
            <a:ext cx="293878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Compare Column IDs</a:t>
            </a:r>
            <a:endParaRPr lang="en-US" altLang="zh-CN" sz="2000" b="1" u="sng" dirty="0">
              <a:solidFill>
                <a:schemeClr val="bg1"/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endParaRPr lang="en-US" altLang="zh-CN" sz="2000" b="1" u="sng" dirty="0">
              <a:solidFill>
                <a:schemeClr val="bg1"/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172210" y="5034280"/>
            <a:ext cx="3942715" cy="451485"/>
          </a:xfrm>
          <a:prstGeom prst="roundRect">
            <a:avLst>
              <a:gd name="adj" fmla="val 24191"/>
            </a:avLst>
          </a:prstGeom>
          <a:solidFill>
            <a:srgbClr val="6796EC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ln>
                <a:solidFill>
                  <a:sysClr val="windowText" lastClr="000000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19630" y="5068570"/>
            <a:ext cx="1987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Sum Duplicates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40460" y="5949315"/>
            <a:ext cx="10045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(1,2+7)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61565" y="5951855"/>
            <a:ext cx="668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(2,5)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199765" y="5946140"/>
            <a:ext cx="668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(3,6)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031615" y="5947410"/>
            <a:ext cx="668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(4,4)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776605" y="3272155"/>
            <a:ext cx="674370" cy="388620"/>
            <a:chOff x="1223" y="5153"/>
            <a:chExt cx="1062" cy="612"/>
          </a:xfrm>
        </p:grpSpPr>
        <p:sp>
          <p:nvSpPr>
            <p:cNvPr id="71" name="圆角矩形 70"/>
            <p:cNvSpPr/>
            <p:nvPr/>
          </p:nvSpPr>
          <p:spPr>
            <a:xfrm>
              <a:off x="1330" y="5198"/>
              <a:ext cx="916" cy="5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223" y="5153"/>
              <a:ext cx="1062" cy="612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8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rPr>
                <a:t>(1,2)</a:t>
              </a:r>
              <a:endPara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1226185" y="2904490"/>
            <a:ext cx="3895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Partial Products: (column, value)</a:t>
            </a:r>
            <a:endParaRPr lang="en-US" altLang="zh-CN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062480" y="5621020"/>
            <a:ext cx="967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Output</a:t>
            </a:r>
            <a:endParaRPr lang="en-US" altLang="zh-CN" b="1">
              <a:latin typeface="Cambria Math" panose="02040503050406030204" charset="0"/>
              <a:cs typeface="Cambria Math" panose="02040503050406030204" charset="0"/>
            </a:endParaRPr>
          </a:p>
        </p:txBody>
      </p:sp>
      <p:cxnSp>
        <p:nvCxnSpPr>
          <p:cNvPr id="100" name="直接箭头连接符 99"/>
          <p:cNvCxnSpPr/>
          <p:nvPr/>
        </p:nvCxnSpPr>
        <p:spPr>
          <a:xfrm>
            <a:off x="1101090" y="3648710"/>
            <a:ext cx="365760" cy="231203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flipH="1">
            <a:off x="1857375" y="3677285"/>
            <a:ext cx="2737485" cy="22929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文本框 122"/>
          <p:cNvSpPr txBox="1"/>
          <p:nvPr/>
        </p:nvSpPr>
        <p:spPr>
          <a:xfrm>
            <a:off x="7090410" y="2769235"/>
            <a:ext cx="3895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800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Partial Products: (column,value)</a:t>
            </a:r>
            <a:endParaRPr lang="en-US" altLang="zh-CN" sz="1800" b="1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8282305" y="5301615"/>
            <a:ext cx="744855" cy="267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Output    </a:t>
            </a:r>
            <a:endParaRPr lang="en-US" altLang="zh-CN" sz="1400" b="1">
              <a:solidFill>
                <a:srgbClr val="C00000"/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7172960" y="3689350"/>
            <a:ext cx="3873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Hash Accumulator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6532792" y="4199890"/>
            <a:ext cx="2851873" cy="983529"/>
            <a:chOff x="10811" y="6396"/>
            <a:chExt cx="5316" cy="1734"/>
          </a:xfrm>
        </p:grpSpPr>
        <p:grpSp>
          <p:nvGrpSpPr>
            <p:cNvPr id="151" name="组合 150"/>
            <p:cNvGrpSpPr/>
            <p:nvPr/>
          </p:nvGrpSpPr>
          <p:grpSpPr>
            <a:xfrm>
              <a:off x="10934" y="6466"/>
              <a:ext cx="983" cy="548"/>
              <a:chOff x="10934" y="6683"/>
              <a:chExt cx="983" cy="548"/>
            </a:xfrm>
          </p:grpSpPr>
          <p:sp>
            <p:nvSpPr>
              <p:cNvPr id="144" name="矩形 143"/>
              <p:cNvSpPr/>
              <p:nvPr/>
            </p:nvSpPr>
            <p:spPr>
              <a:xfrm>
                <a:off x="10934" y="6683"/>
                <a:ext cx="916" cy="5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lIns="162000" anchor="ctr"/>
              <a:lstStyle/>
              <a:p>
                <a:pPr marL="0" lvl="0" indent="0" algn="l" eaLnBrk="1" hangingPunct="1">
                  <a:lnSpc>
                    <a:spcPct val="130000"/>
                  </a:lnSpc>
                  <a:spcBef>
                    <a:spcPct val="0"/>
                  </a:spcBef>
                  <a:buSzPct val="80000"/>
                  <a:buFont typeface="Wingdings" panose="05000000000000000000" pitchFamily="2" charset="2"/>
                  <a:buNone/>
                </a:pPr>
                <a:endPara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46" name="文本框 145"/>
              <p:cNvSpPr txBox="1"/>
              <p:nvPr/>
            </p:nvSpPr>
            <p:spPr>
              <a:xfrm>
                <a:off x="10934" y="6683"/>
                <a:ext cx="983" cy="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>
                    <a:latin typeface="微软雅黑" panose="020B0503020204020204" charset="-122"/>
                    <a:ea typeface="微软雅黑" panose="020B0503020204020204" charset="-122"/>
                  </a:rPr>
                  <a:t>slot</a:t>
                </a:r>
                <a:endParaRPr lang="en-US" altLang="zh-CN" sz="13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52" name="组合 151"/>
            <p:cNvGrpSpPr/>
            <p:nvPr/>
          </p:nvGrpSpPr>
          <p:grpSpPr>
            <a:xfrm>
              <a:off x="10934" y="7014"/>
              <a:ext cx="983" cy="548"/>
              <a:chOff x="10934" y="7214"/>
              <a:chExt cx="983" cy="548"/>
            </a:xfrm>
          </p:grpSpPr>
          <p:sp>
            <p:nvSpPr>
              <p:cNvPr id="147" name="矩形 146"/>
              <p:cNvSpPr/>
              <p:nvPr/>
            </p:nvSpPr>
            <p:spPr>
              <a:xfrm>
                <a:off x="10934" y="7214"/>
                <a:ext cx="916" cy="5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lIns="162000" anchor="ctr"/>
              <a:lstStyle/>
              <a:p>
                <a:pPr marL="0" lvl="0" indent="0" algn="l" eaLnBrk="1" hangingPunct="1">
                  <a:lnSpc>
                    <a:spcPct val="130000"/>
                  </a:lnSpc>
                  <a:spcBef>
                    <a:spcPct val="0"/>
                  </a:spcBef>
                  <a:buSzPct val="80000"/>
                  <a:buFont typeface="Wingdings" panose="05000000000000000000" pitchFamily="2" charset="2"/>
                  <a:buNone/>
                </a:pPr>
                <a:endPara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48" name="文本框 147"/>
              <p:cNvSpPr txBox="1"/>
              <p:nvPr/>
            </p:nvSpPr>
            <p:spPr>
              <a:xfrm>
                <a:off x="10934" y="7214"/>
                <a:ext cx="983" cy="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>
                    <a:latin typeface="微软雅黑" panose="020B0503020204020204" charset="-122"/>
                    <a:ea typeface="微软雅黑" panose="020B0503020204020204" charset="-122"/>
                  </a:rPr>
                  <a:t>key</a:t>
                </a:r>
                <a:endParaRPr lang="en-US" altLang="zh-CN" sz="13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>
              <a:off x="10811" y="7562"/>
              <a:ext cx="1183" cy="548"/>
              <a:chOff x="10811" y="7745"/>
              <a:chExt cx="1183" cy="548"/>
            </a:xfrm>
          </p:grpSpPr>
          <p:sp>
            <p:nvSpPr>
              <p:cNvPr id="149" name="矩形 148"/>
              <p:cNvSpPr/>
              <p:nvPr/>
            </p:nvSpPr>
            <p:spPr>
              <a:xfrm>
                <a:off x="10934" y="7745"/>
                <a:ext cx="916" cy="5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lIns="162000" anchor="ctr"/>
              <a:lstStyle/>
              <a:p>
                <a:pPr marL="0" lvl="0" indent="0" algn="l" eaLnBrk="1" hangingPunct="1">
                  <a:lnSpc>
                    <a:spcPct val="130000"/>
                  </a:lnSpc>
                  <a:spcBef>
                    <a:spcPct val="0"/>
                  </a:spcBef>
                  <a:buSzPct val="80000"/>
                  <a:buFont typeface="Wingdings" panose="05000000000000000000" pitchFamily="2" charset="2"/>
                  <a:buNone/>
                </a:pPr>
                <a:endPara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50" name="文本框 149"/>
              <p:cNvSpPr txBox="1"/>
              <p:nvPr/>
            </p:nvSpPr>
            <p:spPr>
              <a:xfrm>
                <a:off x="10811" y="7757"/>
                <a:ext cx="1183" cy="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>
                    <a:latin typeface="微软雅黑" panose="020B0503020204020204" charset="-122"/>
                    <a:ea typeface="微软雅黑" panose="020B0503020204020204" charset="-122"/>
                  </a:rPr>
                  <a:t>value</a:t>
                </a:r>
                <a:endParaRPr lang="en-US" altLang="zh-CN" sz="13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11850" y="6396"/>
              <a:ext cx="4277" cy="705"/>
              <a:chOff x="11850" y="6396"/>
              <a:chExt cx="4277" cy="705"/>
            </a:xfrm>
          </p:grpSpPr>
          <p:grpSp>
            <p:nvGrpSpPr>
              <p:cNvPr id="162" name="组合 161"/>
              <p:cNvGrpSpPr/>
              <p:nvPr/>
            </p:nvGrpSpPr>
            <p:grpSpPr>
              <a:xfrm>
                <a:off x="11850" y="6466"/>
                <a:ext cx="4277" cy="548"/>
                <a:chOff x="11850" y="6466"/>
                <a:chExt cx="4277" cy="548"/>
              </a:xfrm>
            </p:grpSpPr>
            <p:sp>
              <p:nvSpPr>
                <p:cNvPr id="155" name="矩形 154"/>
                <p:cNvSpPr/>
                <p:nvPr/>
              </p:nvSpPr>
              <p:spPr>
                <a:xfrm>
                  <a:off x="11850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5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>
                <a:xfrm>
                  <a:off x="12563" y="6466"/>
                  <a:ext cx="713" cy="54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>
                <a:xfrm>
                  <a:off x="13276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>
                <a:xfrm>
                  <a:off x="13989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>
                <a:xfrm>
                  <a:off x="14702" y="6466"/>
                  <a:ext cx="713" cy="54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>
                <a:xfrm>
                  <a:off x="15415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sp>
            <p:nvSpPr>
              <p:cNvPr id="177" name="文本框 176"/>
              <p:cNvSpPr txBox="1"/>
              <p:nvPr/>
            </p:nvSpPr>
            <p:spPr>
              <a:xfrm>
                <a:off x="11970" y="6466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8" name="文本框 177"/>
              <p:cNvSpPr txBox="1"/>
              <p:nvPr/>
            </p:nvSpPr>
            <p:spPr>
              <a:xfrm>
                <a:off x="12662" y="6468"/>
                <a:ext cx="442" cy="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3375" y="6471"/>
                <a:ext cx="442" cy="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0" name="文本框 179"/>
              <p:cNvSpPr txBox="1"/>
              <p:nvPr/>
            </p:nvSpPr>
            <p:spPr>
              <a:xfrm>
                <a:off x="14090" y="6473"/>
                <a:ext cx="442" cy="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1" name="文本框 180"/>
              <p:cNvSpPr txBox="1"/>
              <p:nvPr/>
            </p:nvSpPr>
            <p:spPr>
              <a:xfrm>
                <a:off x="14802" y="6457"/>
                <a:ext cx="442" cy="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2" name="文本框 181"/>
              <p:cNvSpPr txBox="1"/>
              <p:nvPr/>
            </p:nvSpPr>
            <p:spPr>
              <a:xfrm>
                <a:off x="15415" y="6396"/>
                <a:ext cx="578" cy="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...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84" name="组合 183"/>
            <p:cNvGrpSpPr/>
            <p:nvPr/>
          </p:nvGrpSpPr>
          <p:grpSpPr>
            <a:xfrm>
              <a:off x="11850" y="6944"/>
              <a:ext cx="4277" cy="658"/>
              <a:chOff x="11850" y="6396"/>
              <a:chExt cx="4277" cy="658"/>
            </a:xfrm>
          </p:grpSpPr>
          <p:grpSp>
            <p:nvGrpSpPr>
              <p:cNvPr id="185" name="组合 184"/>
              <p:cNvGrpSpPr/>
              <p:nvPr/>
            </p:nvGrpSpPr>
            <p:grpSpPr>
              <a:xfrm>
                <a:off x="11850" y="6466"/>
                <a:ext cx="4277" cy="548"/>
                <a:chOff x="11850" y="6466"/>
                <a:chExt cx="4277" cy="548"/>
              </a:xfrm>
            </p:grpSpPr>
            <p:sp>
              <p:nvSpPr>
                <p:cNvPr id="186" name="矩形 185"/>
                <p:cNvSpPr/>
                <p:nvPr/>
              </p:nvSpPr>
              <p:spPr>
                <a:xfrm>
                  <a:off x="11850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5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>
                <a:xfrm>
                  <a:off x="12563" y="6466"/>
                  <a:ext cx="713" cy="54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>
                <a:xfrm>
                  <a:off x="13276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>
                <a:xfrm>
                  <a:off x="13989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>
                <a:xfrm>
                  <a:off x="14702" y="6466"/>
                  <a:ext cx="713" cy="54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>
                <a:xfrm>
                  <a:off x="15415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sp>
            <p:nvSpPr>
              <p:cNvPr id="192" name="文本框 191"/>
              <p:cNvSpPr txBox="1"/>
              <p:nvPr/>
            </p:nvSpPr>
            <p:spPr>
              <a:xfrm>
                <a:off x="11851" y="6466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3" name="文本框 192"/>
              <p:cNvSpPr txBox="1"/>
              <p:nvPr/>
            </p:nvSpPr>
            <p:spPr>
              <a:xfrm>
                <a:off x="12662" y="6468"/>
                <a:ext cx="442" cy="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" name="文本框 193"/>
              <p:cNvSpPr txBox="1"/>
              <p:nvPr/>
            </p:nvSpPr>
            <p:spPr>
              <a:xfrm>
                <a:off x="13375" y="6471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14089" y="6473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14801" y="6457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7" name="文本框 196"/>
              <p:cNvSpPr txBox="1"/>
              <p:nvPr/>
            </p:nvSpPr>
            <p:spPr>
              <a:xfrm>
                <a:off x="15419" y="6396"/>
                <a:ext cx="573" cy="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...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98" name="组合 197"/>
            <p:cNvGrpSpPr/>
            <p:nvPr/>
          </p:nvGrpSpPr>
          <p:grpSpPr>
            <a:xfrm>
              <a:off x="11850" y="7492"/>
              <a:ext cx="4277" cy="638"/>
              <a:chOff x="11850" y="6396"/>
              <a:chExt cx="4277" cy="638"/>
            </a:xfrm>
          </p:grpSpPr>
          <p:grpSp>
            <p:nvGrpSpPr>
              <p:cNvPr id="199" name="组合 198"/>
              <p:cNvGrpSpPr/>
              <p:nvPr/>
            </p:nvGrpSpPr>
            <p:grpSpPr>
              <a:xfrm>
                <a:off x="11850" y="6466"/>
                <a:ext cx="4277" cy="548"/>
                <a:chOff x="11850" y="6466"/>
                <a:chExt cx="4277" cy="548"/>
              </a:xfrm>
            </p:grpSpPr>
            <p:sp>
              <p:nvSpPr>
                <p:cNvPr id="200" name="矩形 199"/>
                <p:cNvSpPr/>
                <p:nvPr/>
              </p:nvSpPr>
              <p:spPr>
                <a:xfrm>
                  <a:off x="11850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5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>
                <a:xfrm>
                  <a:off x="12563" y="6466"/>
                  <a:ext cx="713" cy="54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>
                <a:xfrm>
                  <a:off x="13276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>
                <a:xfrm>
                  <a:off x="13989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>
                <a:xfrm>
                  <a:off x="14702" y="6466"/>
                  <a:ext cx="713" cy="54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>
                <a:xfrm>
                  <a:off x="15415" y="6466"/>
                  <a:ext cx="713" cy="5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wrap="none" lIns="162000" anchor="ctr"/>
                <a:lstStyle/>
                <a:p>
                  <a:pPr marL="0" lvl="0" indent="0" algn="l" eaLnBrk="1" hangingPunct="1">
                    <a:lnSpc>
                      <a:spcPct val="130000"/>
                    </a:lnSpc>
                    <a:spcBef>
                      <a:spcPct val="0"/>
                    </a:spcBef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sp>
            <p:nvSpPr>
              <p:cNvPr id="206" name="文本框 205"/>
              <p:cNvSpPr txBox="1"/>
              <p:nvPr/>
            </p:nvSpPr>
            <p:spPr>
              <a:xfrm>
                <a:off x="11868" y="6450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7" name="文本框 206"/>
              <p:cNvSpPr txBox="1"/>
              <p:nvPr/>
            </p:nvSpPr>
            <p:spPr>
              <a:xfrm>
                <a:off x="12662" y="6466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9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" name="文本框 207"/>
              <p:cNvSpPr txBox="1"/>
              <p:nvPr/>
            </p:nvSpPr>
            <p:spPr>
              <a:xfrm>
                <a:off x="13375" y="6466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9" name="文本框 208"/>
              <p:cNvSpPr txBox="1"/>
              <p:nvPr/>
            </p:nvSpPr>
            <p:spPr>
              <a:xfrm>
                <a:off x="14089" y="6466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5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14801" y="6450"/>
                <a:ext cx="442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6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15414" y="6396"/>
                <a:ext cx="578" cy="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500" b="1">
                    <a:latin typeface="微软雅黑" panose="020B0503020204020204" charset="-122"/>
                    <a:ea typeface="微软雅黑" panose="020B0503020204020204" charset="-122"/>
                  </a:rPr>
                  <a:t>...</a:t>
                </a:r>
                <a:endParaRPr lang="en-US" altLang="zh-CN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14" name="文本框 213"/>
          <p:cNvSpPr txBox="1"/>
          <p:nvPr/>
        </p:nvSpPr>
        <p:spPr>
          <a:xfrm>
            <a:off x="6570345" y="3957320"/>
            <a:ext cx="278066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Hash Table (key: column ID</a:t>
            </a:r>
            <a:r>
              <a:rPr lang="en-US" altLang="zh-CN" sz="15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)</a:t>
            </a:r>
            <a:endParaRPr lang="en-US" altLang="zh-CN" sz="15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9385300" y="4013835"/>
            <a:ext cx="237363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insert (1,2) </a:t>
            </a:r>
            <a:r>
              <a:rPr lang="en-US" alt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→</a:t>
            </a:r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 slot 1</a:t>
            </a:r>
            <a:endParaRPr lang="en-US" altLang="zh-CN" sz="13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insert (4,3) </a:t>
            </a:r>
            <a:r>
              <a:rPr lang="en-US" alt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→</a:t>
            </a:r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 slot 2</a:t>
            </a:r>
            <a:endParaRPr lang="en-US" altLang="zh-CN" sz="13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insert (2,5) </a:t>
            </a:r>
            <a:r>
              <a:rPr lang="en-US" alt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→</a:t>
            </a:r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 slot 3</a:t>
            </a:r>
            <a:endParaRPr lang="en-US" altLang="zh-CN" sz="13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zh-CN" sz="1300" b="1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accumulate key 1 </a:t>
            </a:r>
            <a:r>
              <a:rPr lang="en-US" altLang="en-US" sz="1300" b="1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→</a:t>
            </a:r>
            <a:r>
              <a:rPr lang="en-US" altLang="zh-CN" sz="1300" b="1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 2+7=9</a:t>
            </a:r>
            <a:endParaRPr lang="en-US" altLang="zh-CN" sz="13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zh-CN" sz="1300" b="1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</a:rPr>
              <a:t>accumulate key 4 </a:t>
            </a:r>
            <a:r>
              <a:rPr lang="en-US" altLang="en-US" sz="1300" b="1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</a:rPr>
              <a:t>→</a:t>
            </a:r>
            <a:r>
              <a:rPr lang="en-US" altLang="zh-CN" sz="1300" b="1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</a:rPr>
              <a:t> 3+1=4</a:t>
            </a:r>
            <a:endParaRPr lang="en-US" altLang="zh-CN" sz="1300" b="1">
              <a:solidFill>
                <a:srgbClr val="FF0000"/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insert (3,6) </a:t>
            </a:r>
            <a:r>
              <a:rPr lang="en-US" alt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→</a:t>
            </a:r>
            <a:r>
              <a:rPr lang="en-US" altLang="zh-CN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 slot 4</a:t>
            </a:r>
            <a:endParaRPr lang="en-US" altLang="zh-CN" sz="13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33" name="图片 32" descr="esc_runtime_sha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0485" y="1275080"/>
            <a:ext cx="9220835" cy="575945"/>
          </a:xfrm>
          <a:prstGeom prst="rect">
            <a:avLst/>
          </a:prstGeom>
        </p:spPr>
      </p:pic>
      <p:sp>
        <p:nvSpPr>
          <p:cNvPr id="34" name="矩形: 圆角 38"/>
          <p:cNvSpPr/>
          <p:nvPr>
            <p:custDataLst>
              <p:tags r:id="rId11"/>
            </p:custDataLst>
          </p:nvPr>
        </p:nvSpPr>
        <p:spPr>
          <a:xfrm>
            <a:off x="360680" y="1353185"/>
            <a:ext cx="2205990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Stage-Profiling 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1428750" y="3300730"/>
            <a:ext cx="581660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360805" y="3272155"/>
            <a:ext cx="674370" cy="38862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(4,3)</a:t>
            </a:r>
            <a:endParaRPr lang="en-US" altLang="zh-CN" sz="18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2566035" y="3298825"/>
            <a:ext cx="581660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498090" y="3270250"/>
            <a:ext cx="674370" cy="38862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(2,5)</a:t>
            </a:r>
            <a:endParaRPr lang="en-US" altLang="zh-CN" sz="18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150235" y="3298825"/>
            <a:ext cx="581660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082290" y="3270250"/>
            <a:ext cx="674370" cy="38862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(4,1)</a:t>
            </a:r>
            <a:endParaRPr lang="en-US" altLang="zh-CN" sz="18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4288790" y="3298825"/>
            <a:ext cx="581660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220845" y="3270250"/>
            <a:ext cx="674370" cy="38862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(1,7)</a:t>
            </a:r>
            <a:endParaRPr lang="en-US" altLang="zh-CN" sz="18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4872990" y="3298825"/>
            <a:ext cx="581660" cy="3479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805045" y="3270250"/>
            <a:ext cx="674370" cy="38862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(3,6)</a:t>
            </a:r>
            <a:endParaRPr lang="en-US" altLang="zh-CN" sz="18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56" name="矩形: 圆角 4"/>
          <p:cNvSpPr/>
          <p:nvPr>
            <p:custDataLst>
              <p:tags r:id="rId12"/>
            </p:custDataLst>
          </p:nvPr>
        </p:nvSpPr>
        <p:spPr>
          <a:xfrm>
            <a:off x="805815" y="3237230"/>
            <a:ext cx="641985" cy="459105"/>
          </a:xfrm>
          <a:prstGeom prst="roundRect">
            <a:avLst>
              <a:gd name="adj" fmla="val 2900"/>
            </a:avLst>
          </a:prstGeom>
          <a:noFill/>
          <a:ln w="28575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57" name="矩形: 圆角 4"/>
          <p:cNvSpPr/>
          <p:nvPr>
            <p:custDataLst>
              <p:tags r:id="rId13"/>
            </p:custDataLst>
          </p:nvPr>
        </p:nvSpPr>
        <p:spPr>
          <a:xfrm>
            <a:off x="4253230" y="3237230"/>
            <a:ext cx="641985" cy="459105"/>
          </a:xfrm>
          <a:prstGeom prst="roundRect">
            <a:avLst>
              <a:gd name="adj" fmla="val 2900"/>
            </a:avLst>
          </a:prstGeom>
          <a:noFill/>
          <a:ln w="28575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58" name="矩形: 圆角 4"/>
          <p:cNvSpPr/>
          <p:nvPr>
            <p:custDataLst>
              <p:tags r:id="rId14"/>
            </p:custDataLst>
          </p:nvPr>
        </p:nvSpPr>
        <p:spPr>
          <a:xfrm>
            <a:off x="1021715" y="5907405"/>
            <a:ext cx="1226820" cy="459105"/>
          </a:xfrm>
          <a:prstGeom prst="roundRect">
            <a:avLst>
              <a:gd name="adj" fmla="val 2900"/>
            </a:avLst>
          </a:prstGeom>
          <a:noFill/>
          <a:ln w="28575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59" name="下箭头 58"/>
          <p:cNvSpPr/>
          <p:nvPr/>
        </p:nvSpPr>
        <p:spPr>
          <a:xfrm>
            <a:off x="3088640" y="3669030"/>
            <a:ext cx="123190" cy="32385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3042920" y="5650865"/>
            <a:ext cx="123190" cy="32385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603365" y="3080385"/>
            <a:ext cx="674370" cy="388620"/>
            <a:chOff x="1223" y="5153"/>
            <a:chExt cx="1062" cy="612"/>
          </a:xfrm>
        </p:grpSpPr>
        <p:sp>
          <p:nvSpPr>
            <p:cNvPr id="62" name="圆角矩形 61"/>
            <p:cNvSpPr/>
            <p:nvPr/>
          </p:nvSpPr>
          <p:spPr>
            <a:xfrm>
              <a:off x="1330" y="5198"/>
              <a:ext cx="916" cy="5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223" y="5153"/>
              <a:ext cx="1062" cy="612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8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rPr>
                <a:t>(1,2)</a:t>
              </a:r>
              <a:endPara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endParaRPr>
            </a:p>
          </p:txBody>
        </p:sp>
      </p:grpSp>
      <p:sp>
        <p:nvSpPr>
          <p:cNvPr id="67" name="下箭头 66"/>
          <p:cNvSpPr/>
          <p:nvPr/>
        </p:nvSpPr>
        <p:spPr>
          <a:xfrm>
            <a:off x="6900545" y="3482340"/>
            <a:ext cx="123190" cy="17907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7435215" y="3082290"/>
            <a:ext cx="674370" cy="388620"/>
            <a:chOff x="1223" y="5153"/>
            <a:chExt cx="1062" cy="612"/>
          </a:xfrm>
        </p:grpSpPr>
        <p:sp>
          <p:nvSpPr>
            <p:cNvPr id="69" name="圆角矩形 68"/>
            <p:cNvSpPr/>
            <p:nvPr/>
          </p:nvSpPr>
          <p:spPr>
            <a:xfrm>
              <a:off x="1330" y="5198"/>
              <a:ext cx="916" cy="5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223" y="5153"/>
              <a:ext cx="1062" cy="612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8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rPr>
                <a:t>(4,3)</a:t>
              </a:r>
              <a:endPara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endParaRPr>
            </a:p>
          </p:txBody>
        </p:sp>
      </p:grpSp>
      <p:sp>
        <p:nvSpPr>
          <p:cNvPr id="73" name="下箭头 72"/>
          <p:cNvSpPr/>
          <p:nvPr/>
        </p:nvSpPr>
        <p:spPr>
          <a:xfrm>
            <a:off x="7732395" y="3484245"/>
            <a:ext cx="123190" cy="17653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8263255" y="3082290"/>
            <a:ext cx="674370" cy="388620"/>
            <a:chOff x="1223" y="5153"/>
            <a:chExt cx="1062" cy="612"/>
          </a:xfrm>
        </p:grpSpPr>
        <p:sp>
          <p:nvSpPr>
            <p:cNvPr id="75" name="圆角矩形 74"/>
            <p:cNvSpPr/>
            <p:nvPr/>
          </p:nvSpPr>
          <p:spPr>
            <a:xfrm>
              <a:off x="1330" y="5198"/>
              <a:ext cx="916" cy="5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223" y="5153"/>
              <a:ext cx="1062" cy="612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8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rPr>
                <a:t>(2,5)</a:t>
              </a:r>
              <a:endPara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endParaRPr>
            </a:p>
          </p:txBody>
        </p:sp>
      </p:grpSp>
      <p:sp>
        <p:nvSpPr>
          <p:cNvPr id="77" name="下箭头 76"/>
          <p:cNvSpPr/>
          <p:nvPr/>
        </p:nvSpPr>
        <p:spPr>
          <a:xfrm>
            <a:off x="8560435" y="3484245"/>
            <a:ext cx="123190" cy="17399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9100185" y="3082290"/>
            <a:ext cx="674370" cy="388620"/>
            <a:chOff x="1223" y="5153"/>
            <a:chExt cx="1062" cy="612"/>
          </a:xfrm>
        </p:grpSpPr>
        <p:sp>
          <p:nvSpPr>
            <p:cNvPr id="79" name="圆角矩形 78"/>
            <p:cNvSpPr/>
            <p:nvPr/>
          </p:nvSpPr>
          <p:spPr>
            <a:xfrm>
              <a:off x="1330" y="5198"/>
              <a:ext cx="916" cy="5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223" y="5153"/>
              <a:ext cx="1062" cy="612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8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rPr>
                <a:t>(1,7)</a:t>
              </a:r>
              <a:endPara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endParaRPr>
            </a:p>
          </p:txBody>
        </p:sp>
      </p:grpSp>
      <p:sp>
        <p:nvSpPr>
          <p:cNvPr id="81" name="下箭头 80"/>
          <p:cNvSpPr/>
          <p:nvPr/>
        </p:nvSpPr>
        <p:spPr>
          <a:xfrm>
            <a:off x="9397365" y="3484245"/>
            <a:ext cx="123190" cy="17462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9941560" y="3087370"/>
            <a:ext cx="674370" cy="388620"/>
            <a:chOff x="1223" y="5153"/>
            <a:chExt cx="1062" cy="612"/>
          </a:xfrm>
        </p:grpSpPr>
        <p:sp>
          <p:nvSpPr>
            <p:cNvPr id="83" name="圆角矩形 82"/>
            <p:cNvSpPr/>
            <p:nvPr/>
          </p:nvSpPr>
          <p:spPr>
            <a:xfrm>
              <a:off x="1330" y="5198"/>
              <a:ext cx="916" cy="5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223" y="5153"/>
              <a:ext cx="1062" cy="612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8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rPr>
                <a:t>(4,1)</a:t>
              </a:r>
              <a:endPara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endParaRPr>
            </a:p>
          </p:txBody>
        </p:sp>
      </p:grpSp>
      <p:sp>
        <p:nvSpPr>
          <p:cNvPr id="102" name="下箭头 101"/>
          <p:cNvSpPr/>
          <p:nvPr/>
        </p:nvSpPr>
        <p:spPr>
          <a:xfrm>
            <a:off x="10238740" y="3489325"/>
            <a:ext cx="123190" cy="17970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10785475" y="3087370"/>
            <a:ext cx="674370" cy="388620"/>
            <a:chOff x="1223" y="5153"/>
            <a:chExt cx="1062" cy="612"/>
          </a:xfrm>
        </p:grpSpPr>
        <p:sp>
          <p:nvSpPr>
            <p:cNvPr id="104" name="圆角矩形 103"/>
            <p:cNvSpPr/>
            <p:nvPr/>
          </p:nvSpPr>
          <p:spPr>
            <a:xfrm>
              <a:off x="1330" y="5198"/>
              <a:ext cx="916" cy="5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223" y="5153"/>
              <a:ext cx="1062" cy="612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8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rPr>
                <a:t>(3,6)</a:t>
              </a:r>
              <a:endPara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endParaRPr>
            </a:p>
          </p:txBody>
        </p:sp>
      </p:grpSp>
      <p:sp>
        <p:nvSpPr>
          <p:cNvPr id="136" name="下箭头 135"/>
          <p:cNvSpPr/>
          <p:nvPr/>
        </p:nvSpPr>
        <p:spPr>
          <a:xfrm>
            <a:off x="11082655" y="3489325"/>
            <a:ext cx="123190" cy="18796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40" name="下箭头 139"/>
          <p:cNvSpPr/>
          <p:nvPr/>
        </p:nvSpPr>
        <p:spPr>
          <a:xfrm>
            <a:off x="9009380" y="5345430"/>
            <a:ext cx="123190" cy="22098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8467090" y="55733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8467725" y="5535930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(4,4)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cxnSp>
        <p:nvCxnSpPr>
          <p:cNvPr id="168" name="直接箭头连接符 167"/>
          <p:cNvCxnSpPr/>
          <p:nvPr/>
        </p:nvCxnSpPr>
        <p:spPr>
          <a:xfrm flipH="1">
            <a:off x="7781925" y="4757420"/>
            <a:ext cx="1668780" cy="264795"/>
          </a:xfrm>
          <a:prstGeom prst="straightConnector1">
            <a:avLst/>
          </a:prstGeom>
          <a:ln>
            <a:solidFill>
              <a:srgbClr val="0D77C3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8164195" y="4967605"/>
            <a:ext cx="1279525" cy="54610"/>
          </a:xfrm>
          <a:prstGeom prst="straightConnector1">
            <a:avLst/>
          </a:prstGeom>
          <a:ln>
            <a:solidFill>
              <a:srgbClr val="0D77C3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0" name="圆角矩形 169"/>
          <p:cNvSpPr/>
          <p:nvPr/>
        </p:nvSpPr>
        <p:spPr>
          <a:xfrm>
            <a:off x="7865110" y="55733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7865745" y="5535930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(1,9)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9671685" y="55733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9672320" y="5535930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(3,6)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9069705" y="55733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9070340" y="5535930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(2,5)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8424545" y="5835015"/>
            <a:ext cx="635000" cy="267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400" b="1">
                <a:solidFill>
                  <a:srgbClr val="C0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Sort    </a:t>
            </a:r>
            <a:endParaRPr lang="en-US" altLang="zh-CN" sz="1400" b="1">
              <a:solidFill>
                <a:srgbClr val="C00000"/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35" name="下箭头 234"/>
          <p:cNvSpPr/>
          <p:nvPr/>
        </p:nvSpPr>
        <p:spPr>
          <a:xfrm>
            <a:off x="9004935" y="5878830"/>
            <a:ext cx="123190" cy="22098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6" name="圆角矩形 235"/>
          <p:cNvSpPr/>
          <p:nvPr/>
        </p:nvSpPr>
        <p:spPr>
          <a:xfrm>
            <a:off x="8462645" y="61067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8463280" y="6073775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(2,5)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38" name="圆角矩形 237"/>
          <p:cNvSpPr/>
          <p:nvPr/>
        </p:nvSpPr>
        <p:spPr>
          <a:xfrm>
            <a:off x="7860665" y="61067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7861300" y="6073775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(1,9)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9667240" y="61067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9667875" y="6073775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(4,4)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9065260" y="6106795"/>
            <a:ext cx="602615" cy="2628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9065895" y="6073775"/>
            <a:ext cx="597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(3,6)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44" name="矩形: 圆角 4"/>
          <p:cNvSpPr/>
          <p:nvPr>
            <p:custDataLst>
              <p:tags r:id="rId15"/>
            </p:custDataLst>
          </p:nvPr>
        </p:nvSpPr>
        <p:spPr>
          <a:xfrm>
            <a:off x="2610485" y="1255395"/>
            <a:ext cx="6786880" cy="576580"/>
          </a:xfrm>
          <a:prstGeom prst="roundRect">
            <a:avLst>
              <a:gd name="adj" fmla="val 2900"/>
            </a:avLst>
          </a:prstGeom>
          <a:noFill/>
          <a:ln w="28575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4140" y="671830"/>
            <a:ext cx="12087860" cy="603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ea typeface="微软雅黑" panose="020B0503020204020204" charset="-122"/>
              </a:rPr>
              <a:t> </a:t>
            </a:r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Mainstream SpGEMM methods mainly adopt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Merge-Based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or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Hash-Based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2000" b="1" dirty="0">
                <a:solidFill>
                  <a:schemeClr val="tx1"/>
                </a:solidFill>
                <a:ea typeface="微软雅黑" panose="020B0503020204020204" charset="-122"/>
              </a:rPr>
              <a:t>accumulation</a:t>
            </a:r>
            <a:endParaRPr kumimoji="1" lang="en-US" altLang="zh-CN" sz="2000" b="1" dirty="0">
              <a:solidFill>
                <a:schemeClr val="tx1"/>
              </a:solidFill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endParaRPr kumimoji="1" lang="zh-CN" altLang="en-US" sz="2000" b="1" dirty="0">
              <a:solidFill>
                <a:schemeClr val="tx1"/>
              </a:solidFill>
              <a:ea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4"/>
          <p:cNvSpPr/>
          <p:nvPr>
            <p:custDataLst>
              <p:tags r:id="rId1"/>
            </p:custDataLst>
          </p:nvPr>
        </p:nvSpPr>
        <p:spPr>
          <a:xfrm>
            <a:off x="116205" y="1405255"/>
            <a:ext cx="5593715" cy="508508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0932795" y="4895215"/>
            <a:ext cx="727710" cy="528320"/>
          </a:xfrm>
          <a:prstGeom prst="roundRect">
            <a:avLst/>
          </a:prstGeom>
          <a:solidFill>
            <a:srgbClr val="F3F8FA"/>
          </a:solidFill>
          <a:ln w="19050" algn="ctr">
            <a:solidFill>
              <a:srgbClr val="0D77C3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6" name="图片 15" descr="ratio_vs_sig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3056255"/>
            <a:ext cx="4570095" cy="1599565"/>
          </a:xfrm>
          <a:prstGeom prst="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10814050" y="3266440"/>
            <a:ext cx="948055" cy="488315"/>
          </a:xfrm>
          <a:prstGeom prst="roundRect">
            <a:avLst/>
          </a:prstGeom>
          <a:solidFill>
            <a:srgbClr val="F3F8FA"/>
          </a:solidFill>
          <a:ln w="19050" algn="ctr">
            <a:solidFill>
              <a:srgbClr val="0D77C3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0997565" y="1586865"/>
            <a:ext cx="663575" cy="274320"/>
          </a:xfrm>
          <a:prstGeom prst="roundRect">
            <a:avLst/>
          </a:prstGeom>
          <a:solidFill>
            <a:srgbClr val="F3F8FA"/>
          </a:solidFill>
          <a:ln w="19050" algn="ctr">
            <a:solidFill>
              <a:srgbClr val="0D77C3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矩形: 圆角 4"/>
          <p:cNvSpPr/>
          <p:nvPr>
            <p:custDataLst>
              <p:tags r:id="rId3"/>
            </p:custDataLst>
          </p:nvPr>
        </p:nvSpPr>
        <p:spPr>
          <a:xfrm>
            <a:off x="5883910" y="977900"/>
            <a:ext cx="5975985" cy="551243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288290" y="30480"/>
            <a:ext cx="10709856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Core Insight</a:t>
            </a:r>
            <a:endParaRPr kumimoji="1" 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570" y="732155"/>
            <a:ext cx="6263005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kumimoji="1" lang="en-US" altLang="zh-CN" sz="19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Neither merge nor hash consistently wins</a:t>
            </a:r>
            <a:endParaRPr kumimoji="1" lang="en-US" altLang="zh-CN" sz="1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en-US" altLang="zh-CN" sz="1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hash_vs_mer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90" y="1803400"/>
            <a:ext cx="5317490" cy="45154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546225" y="6147435"/>
            <a:ext cx="2800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800">
                <a:latin typeface="Cambria Math" panose="02040503050406030204" charset="0"/>
                <a:cs typeface="Cambria Math" panose="02040503050406030204" charset="0"/>
              </a:rPr>
              <a:t>Hash-based runtime (ms)</a:t>
            </a:r>
            <a:endParaRPr lang="en-US" altLang="zh-CN" sz="180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500" y="2683510"/>
            <a:ext cx="483235" cy="2781935"/>
          </a:xfrm>
          <a:prstGeom prst="rect">
            <a:avLst/>
          </a:prstGeom>
          <a:noFill/>
        </p:spPr>
        <p:txBody>
          <a:bodyPr vert="vert270" wrap="square" rtlCol="0">
            <a:noAutofit/>
          </a:bodyPr>
          <a:lstStyle/>
          <a:p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Merge-based runtime (ms)</a:t>
            </a:r>
            <a:endParaRPr lang="en-US" altLang="zh-CN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40" name="矩形: 圆角 39"/>
          <p:cNvSpPr/>
          <p:nvPr>
            <p:custDataLst>
              <p:tags r:id="rId8"/>
            </p:custDataLst>
          </p:nvPr>
        </p:nvSpPr>
        <p:spPr>
          <a:xfrm>
            <a:off x="5883910" y="876300"/>
            <a:ext cx="5975350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Potential Contributing Factors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 descr="ratio_vs_row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3800" y="1310005"/>
            <a:ext cx="4570095" cy="1656080"/>
          </a:xfrm>
          <a:prstGeom prst="rect">
            <a:avLst/>
          </a:prstGeom>
        </p:spPr>
      </p:pic>
      <p:pic>
        <p:nvPicPr>
          <p:cNvPr id="14" name="图片 13" descr="ratio_vs_product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3800" y="4745355"/>
            <a:ext cx="4540250" cy="160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5925185" y="2924175"/>
                <a:ext cx="453390" cy="1619885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𝑚𝑒𝑟𝑔𝑒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\</m:t>
                          </m:r>
                          <m:r>
                            <a:rPr lang="en-US" altLang="zh-CN" sz="1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ℎ𝑎𝑠ℎ</m:t>
                          </m:r>
                        </m:sub>
                      </m:sSub>
                    </m:oMath>
                  </m:oMathPara>
                </a14:m>
                <a:endParaRPr lang="en-US" altLang="zh-CN" sz="18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185" y="2924175"/>
                <a:ext cx="453390" cy="161988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0737215" y="3273425"/>
                <a:ext cx="1122680" cy="110998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300" i="1"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𝜎</m:t>
                      </m:r>
                      <m:r>
                        <a:rPr lang="en-US" altLang="zh-CN" sz="1300" i="1"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3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𝑎𝑣𝑒𝑟𝑎𝑔𝑒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3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sz="13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 sz="13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 Large</a:t>
                </a:r>
                <a:r>
                  <a:rPr lang="en-US" altLang="zh-CN" sz="1300" i="1">
                    <a:latin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300" i="1">
                        <a:latin typeface="Cambria Math" panose="02040503050406030204" charset="0"/>
                        <a:ea typeface="Ms.Luce" panose="00000400000000000000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sz="1300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altLang="zh-CN" sz="1300" i="1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endParaRPr lang="en-US" altLang="zh-CN" sz="1300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en-US" altLang="zh-CN" sz="1300" i="1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en-US" altLang="zh-CN" sz="13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Hash wins</a:t>
                </a:r>
                <a:endParaRPr lang="en-US" altLang="zh-CN" sz="1300">
                  <a:latin typeface="微软雅黑" panose="020B0503020204020204" charset="-122"/>
                  <a:ea typeface="微软雅黑" panose="020B0503020204020204" charset="-122"/>
                  <a:cs typeface="+mn-lt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215" y="3273425"/>
                <a:ext cx="1122680" cy="110998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0737215" y="4895215"/>
                <a:ext cx="1122045" cy="10833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1300" i="1"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3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3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𝑛𝑛𝑧</m:t>
                              </m:r>
                            </m:sub>
                            <m:sup>
                              <m:r>
                                <a:rPr lang="en-US" altLang="zh-CN" sz="1300" i="1">
                                  <a:latin typeface="Cambria Math" panose="02040503050406030204" charset="0"/>
                                  <a:ea typeface="Ms.Luce" panose="00000400000000000000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13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altLang="zh-CN" sz="13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sz="13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 sz="13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Large</a:t>
                </a:r>
                <a:r>
                  <a:rPr lang="en-US" altLang="zh-CN" sz="1300" i="1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300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1300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altLang="zh-CN" sz="1300" i="1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endParaRPr lang="en-US" altLang="zh-CN" sz="1300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en-US" altLang="zh-CN" sz="13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Hash wins</a:t>
                </a:r>
                <a:endParaRPr lang="en-US" altLang="zh-CN" sz="1300" i="1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215" y="4895215"/>
                <a:ext cx="1122045" cy="108331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10760710" y="1586230"/>
                <a:ext cx="1098550" cy="10922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00" i="1"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sz="13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𝑅𝑜𝑤𝑠</m:t>
                      </m:r>
                      <m:r>
                        <a:rPr lang="en-US" altLang="zh-CN" sz="1300" i="1"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sz="1300" i="1">
                          <a:latin typeface="Cambria Math" panose="02040503050406030204" charset="0"/>
                          <a:cs typeface="Cambria Math" panose="02040503050406030204" charset="0"/>
                        </a:rPr>
                        <m:t>𝑁</m:t>
                      </m:r>
                    </m:oMath>
                  </m:oMathPara>
                </a14:m>
                <a:endParaRPr lang="en-US" altLang="zh-CN" sz="13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sz="1300"/>
              </a:p>
              <a:p>
                <a:r>
                  <a:rPr lang="en-US" altLang="zh-CN" sz="1300">
                    <a:latin typeface="微软雅黑" panose="020B0503020204020204" charset="-122"/>
                    <a:ea typeface="微软雅黑" panose="020B0503020204020204" charset="-122"/>
                  </a:rPr>
                  <a:t>Large</a:t>
                </a:r>
                <a:r>
                  <a:rPr lang="en-US" altLang="zh-CN" sz="1300"/>
                  <a:t> </a:t>
                </a:r>
                <a14:m>
                  <m:oMath xmlns:m="http://schemas.openxmlformats.org/officeDocument/2006/math">
                    <m:r>
                      <a:rPr lang="en-US" altLang="zh-CN" sz="1300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sz="1300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altLang="zh-CN" sz="1300" i="1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en-US" altLang="zh-CN" sz="13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Hash wins</a:t>
                </a:r>
                <a:endParaRPr lang="en-US" altLang="zh-CN" sz="13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sz="130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0710" y="1586230"/>
                <a:ext cx="1098550" cy="109220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11552555" y="1555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" name="矩形: 圆角 39"/>
          <p:cNvSpPr/>
          <p:nvPr>
            <p:custDataLst>
              <p:tags r:id="rId15"/>
            </p:custDataLst>
          </p:nvPr>
        </p:nvSpPr>
        <p:spPr>
          <a:xfrm>
            <a:off x="115570" y="1310005"/>
            <a:ext cx="5594350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Profiling Results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8647430" y="1762125"/>
            <a:ext cx="3262630" cy="475043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4117340" y="2844800"/>
            <a:ext cx="3735705" cy="1416050"/>
          </a:xfrm>
          <a:prstGeom prst="roundRect">
            <a:avLst>
              <a:gd name="adj" fmla="val 7004"/>
            </a:avLst>
          </a:prstGeom>
          <a:solidFill>
            <a:srgbClr val="E2EAFD"/>
          </a:solidFill>
          <a:ln w="25400" algn="ctr">
            <a:noFill/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8290" y="30480"/>
            <a:ext cx="10709856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Overall: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Adaptive Merge–Hash Workflow Dispatch</a:t>
            </a:r>
            <a:endParaRPr kumimoji="1"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4"/>
          <p:cNvSpPr/>
          <p:nvPr>
            <p:custDataLst>
              <p:tags r:id="rId5"/>
            </p:custDataLst>
          </p:nvPr>
        </p:nvSpPr>
        <p:spPr>
          <a:xfrm>
            <a:off x="231140" y="1762125"/>
            <a:ext cx="3169920" cy="472884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39" name="矩形: 圆角 38"/>
          <p:cNvSpPr/>
          <p:nvPr>
            <p:custDataLst>
              <p:tags r:id="rId6"/>
            </p:custDataLst>
          </p:nvPr>
        </p:nvSpPr>
        <p:spPr>
          <a:xfrm>
            <a:off x="236220" y="1630045"/>
            <a:ext cx="3178810" cy="407035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pitchFamily="18" charset="2"/>
              </a:rPr>
              <a:t> </a:t>
            </a:r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Offline Threshold Choosing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: 圆角 39"/>
          <p:cNvSpPr/>
          <p:nvPr>
            <p:custDataLst>
              <p:tags r:id="rId7"/>
            </p:custDataLst>
          </p:nvPr>
        </p:nvSpPr>
        <p:spPr>
          <a:xfrm>
            <a:off x="8661400" y="1630045"/>
            <a:ext cx="3274060" cy="407035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Wingdings 2" panose="05020102010507070707" pitchFamily="18" charset="2"/>
              </a:rPr>
              <a:t>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sym typeface="Wingdings 2" panose="05020102010507070707" pitchFamily="18" charset="2"/>
              </a:rPr>
              <a:t> </a:t>
            </a:r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Overhead Hiding via Overlap</a:t>
            </a:r>
            <a:endParaRPr lang="en-US" altLang="zh-CN" sz="15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矩形: 圆角 4"/>
          <p:cNvSpPr/>
          <p:nvPr>
            <p:custDataLst>
              <p:tags r:id="rId8"/>
            </p:custDataLst>
          </p:nvPr>
        </p:nvSpPr>
        <p:spPr>
          <a:xfrm>
            <a:off x="3595370" y="1798955"/>
            <a:ext cx="4871720" cy="469201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18" name="矩形: 圆角 38"/>
          <p:cNvSpPr/>
          <p:nvPr>
            <p:custDataLst>
              <p:tags r:id="rId9"/>
            </p:custDataLst>
          </p:nvPr>
        </p:nvSpPr>
        <p:spPr>
          <a:xfrm>
            <a:off x="3595370" y="1630045"/>
            <a:ext cx="4871720" cy="407035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sym typeface="Wingdings 2" panose="05020102010507070707" pitchFamily="18" charset="2"/>
              </a:rPr>
              <a:t> </a:t>
            </a:r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CPU-side Online Dispatcher</a:t>
            </a:r>
            <a:endParaRPr lang="en-US" altLang="zh-CN" sz="15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88290" y="738505"/>
            <a:ext cx="1157287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 sz="1900" b="1">
                <a:latin typeface="微软雅黑" panose="020B0503020204020204" charset="-122"/>
                <a:ea typeface="微软雅黑" panose="020B0503020204020204" charset="-122"/>
              </a:rPr>
              <a:t>CPU dispatcher uses learned thresholds to choose Merge or Hash with negligible overhead</a:t>
            </a:r>
            <a:endParaRPr lang="en-US" altLang="zh-CN" sz="19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5945" y="2384425"/>
            <a:ext cx="2419350" cy="7467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noFill/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75945" y="2440305"/>
            <a:ext cx="24491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training matrices</a:t>
            </a:r>
            <a:endParaRPr lang="en-US" altLang="zh-CN" sz="15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(disjoint from test set)</a:t>
            </a:r>
            <a:endParaRPr lang="en-US" altLang="zh-CN" sz="1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75945" y="3445510"/>
            <a:ext cx="2419350" cy="765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noFill/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1728470" y="3140710"/>
            <a:ext cx="5080" cy="304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图片 36" descr="放大镜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820" y="3582670"/>
            <a:ext cx="428625" cy="42862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147445" y="3529330"/>
            <a:ext cx="1774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Profiling &amp;</a:t>
            </a:r>
            <a:endParaRPr lang="en-US" altLang="zh-CN" sz="15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threshold search</a:t>
            </a:r>
            <a:endParaRPr lang="en-US" altLang="zh-CN" sz="1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75945" y="4531995"/>
            <a:ext cx="2419350" cy="662940"/>
          </a:xfrm>
          <a:prstGeom prst="roundRect">
            <a:avLst/>
          </a:prstGeom>
          <a:noFill/>
          <a:ln w="25400" algn="ctr">
            <a:solidFill>
              <a:schemeClr val="tx1"/>
            </a:solidFill>
            <a:prstDash val="dash"/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1733550" y="4211320"/>
            <a:ext cx="0" cy="3562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14680" y="4597400"/>
            <a:ext cx="23399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Chosen </a:t>
            </a:r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thresholds:</a:t>
            </a:r>
            <a:br>
              <a:rPr lang="en-US" altLang="zh-CN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α, β, γ</a:t>
            </a:r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1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3270250" y="1122045"/>
                <a:ext cx="545211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𝑼𝒔𝒆</m:t>
                      </m:r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𝑯𝒂𝒔𝒉</m:t>
                      </m:r>
                      <m:box>
                        <m:boxPr>
                          <m:noBreak m:val="on"/>
                          <m:ctrlP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boxPr>
                        <m:e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 ⇔ (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𝑵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&gt;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𝜶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  ⋀  ( (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𝝈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&gt; 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𝜷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  ⋁  (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&gt; 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𝜸</m:t>
                          </m:r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))</m:t>
                          </m:r>
                        </m:e>
                      </m:box>
                    </m:oMath>
                  </m:oMathPara>
                </a14:m>
                <a:endParaRPr lang="en-US" altLang="zh-CN" sz="2000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250" y="1122045"/>
                <a:ext cx="5452110" cy="398780"/>
              </a:xfrm>
              <a:prstGeom prst="rect">
                <a:avLst/>
              </a:prstGeom>
              <a:blipFill rotWithShape="1">
                <a:blip r:embed="rId12"/>
                <a:stretch>
                  <a:fillRect l="-1584" r="-1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圆角矩形 45"/>
          <p:cNvSpPr/>
          <p:nvPr/>
        </p:nvSpPr>
        <p:spPr>
          <a:xfrm>
            <a:off x="4784090" y="2195830"/>
            <a:ext cx="2419350" cy="3962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algn="ctr">
            <a:noFill/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940300" y="2223135"/>
            <a:ext cx="210693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Input sparse matrix</a:t>
            </a:r>
            <a:endParaRPr lang="en-US" altLang="zh-CN" sz="1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4274820" y="3143885"/>
            <a:ext cx="3420745" cy="937895"/>
          </a:xfrm>
          <a:prstGeom prst="roundRect">
            <a:avLst>
              <a:gd name="adj" fmla="val 7004"/>
            </a:avLst>
          </a:prstGeom>
          <a:solidFill>
            <a:srgbClr val="E2EAFD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912995" y="2821940"/>
            <a:ext cx="21342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CPU Dispatch Module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120005" y="309816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Feature extraction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4313555" y="3340735"/>
                <a:ext cx="3538855" cy="737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charset="0"/>
                  <a:buChar char="l"/>
                </a:pPr>
                <a:r>
                  <a:rPr lang="en-US" altLang="zh-CN" sz="1400" b="1"/>
                  <a:t>N: matrix row length</a:t>
                </a:r>
                <a:endParaRPr lang="en-US" altLang="zh-CN" sz="1400" b="1"/>
              </a:p>
              <a:p>
                <a:pPr marL="285750" indent="-285750"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charset="0"/>
                        <a:cs typeface="Cambria Math" panose="02040503050406030204" charset="0"/>
                      </a:rPr>
                      <m:t>𝝈</m:t>
                    </m:r>
                  </m:oMath>
                </a14:m>
                <a:r>
                  <a:rPr lang="en-US" altLang="zh-CN" sz="1400" b="1"/>
                  <a:t>: row imbalance degree</a:t>
                </a:r>
                <a:endParaRPr lang="en-US" altLang="zh-CN" sz="1400" b="1"/>
              </a:p>
              <a:p>
                <a:pPr marL="285750" indent="-285750">
                  <a:buFont typeface="Wingdings" panose="05000000000000000000" charset="0"/>
                  <a:buChar char="l"/>
                </a:pPr>
                <a:r>
                  <a:rPr lang="en-US" altLang="zh-CN" sz="1400" b="1"/>
                  <a:t>f: intermediate products estimation</a:t>
                </a:r>
                <a:endParaRPr lang="en-US" altLang="zh-CN" sz="1400" b="1"/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555" y="3340735"/>
                <a:ext cx="3538855" cy="73723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圆角矩形 55"/>
          <p:cNvSpPr/>
          <p:nvPr/>
        </p:nvSpPr>
        <p:spPr>
          <a:xfrm>
            <a:off x="9406255" y="2326005"/>
            <a:ext cx="812165" cy="570230"/>
          </a:xfrm>
          <a:prstGeom prst="roundRect">
            <a:avLst/>
          </a:prstGeom>
          <a:solidFill>
            <a:srgbClr val="E2EAFD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319895" y="2385060"/>
            <a:ext cx="984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workload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selection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9368790" y="2889250"/>
            <a:ext cx="744220" cy="69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9513570" y="3295650"/>
            <a:ext cx="1156970" cy="5702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513570" y="3354705"/>
            <a:ext cx="1156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transfer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9368790" y="3858895"/>
            <a:ext cx="744220" cy="69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10219055" y="4276725"/>
            <a:ext cx="1430655" cy="5695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073005" y="4397375"/>
            <a:ext cx="17227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GPU compute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>
            <a:off x="9495790" y="4848860"/>
            <a:ext cx="2365375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10995025" y="2611755"/>
            <a:ext cx="39878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0458450" y="2607945"/>
            <a:ext cx="529590" cy="38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stCxn id="60" idx="3"/>
          </p:cNvCxnSpPr>
          <p:nvPr/>
        </p:nvCxnSpPr>
        <p:spPr>
          <a:xfrm flipV="1">
            <a:off x="10670540" y="3579495"/>
            <a:ext cx="313690" cy="57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10995025" y="3573780"/>
            <a:ext cx="403860" cy="5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 flipV="1">
            <a:off x="8826500" y="5132705"/>
            <a:ext cx="2914015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文本框 135"/>
          <p:cNvSpPr txBox="1"/>
          <p:nvPr/>
        </p:nvSpPr>
        <p:spPr>
          <a:xfrm>
            <a:off x="11142345" y="5150485"/>
            <a:ext cx="568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Time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8647430" y="2385060"/>
            <a:ext cx="905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CPU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dispatch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8647430" y="3340735"/>
            <a:ext cx="905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H2D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transfer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8661400" y="4333240"/>
            <a:ext cx="905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GPU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compute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381000" y="5570220"/>
            <a:ext cx="28892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Thresholds are learned offline from 1000 matrices unrelated to  the 100 test 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matrices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2" name="直接箭头连接符 141"/>
          <p:cNvCxnSpPr/>
          <p:nvPr/>
        </p:nvCxnSpPr>
        <p:spPr>
          <a:xfrm>
            <a:off x="5923280" y="2592070"/>
            <a:ext cx="1270" cy="2495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3" name="文本框 142"/>
          <p:cNvSpPr txBox="1"/>
          <p:nvPr/>
        </p:nvSpPr>
        <p:spPr>
          <a:xfrm>
            <a:off x="8743315" y="5570220"/>
            <a:ext cx="31178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CPU-side selection overlaps with transfer,hiding dispatch. GPU compute dominates afterward.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流程图: 决策 144"/>
          <p:cNvSpPr/>
          <p:nvPr/>
        </p:nvSpPr>
        <p:spPr>
          <a:xfrm>
            <a:off x="4612640" y="4466590"/>
            <a:ext cx="1231900" cy="590550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4912995" y="4579620"/>
            <a:ext cx="7886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N &gt; α</a:t>
            </a:r>
            <a:r>
              <a:rPr lang="en-US" altLang="zh-CN" sz="1400" b="1"/>
              <a:t> </a:t>
            </a:r>
            <a:endParaRPr lang="zh-CN" altLang="en-US" sz="1400" b="1"/>
          </a:p>
        </p:txBody>
      </p:sp>
      <p:sp>
        <p:nvSpPr>
          <p:cNvPr id="156" name="流程图: 决策 155"/>
          <p:cNvSpPr/>
          <p:nvPr/>
        </p:nvSpPr>
        <p:spPr>
          <a:xfrm>
            <a:off x="5553075" y="4983480"/>
            <a:ext cx="1821180" cy="1071245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文本框 162"/>
              <p:cNvSpPr txBox="1"/>
              <p:nvPr/>
            </p:nvSpPr>
            <p:spPr>
              <a:xfrm>
                <a:off x="5899785" y="5074920"/>
                <a:ext cx="1123950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</a:rPr>
                      <m:t>𝛔</m:t>
                    </m:r>
                  </m:oMath>
                </a14:m>
                <a:r>
                  <a:rPr lang="en-US" altLang="zh-CN" sz="1600" b="1"/>
                  <a:t> &gt; β </a:t>
                </a:r>
                <a:endParaRPr lang="en-US" altLang="zh-CN" sz="1600" b="1"/>
              </a:p>
              <a:p>
                <a:pPr algn="ctr"/>
                <a:r>
                  <a:rPr lang="en-US" altLang="zh-CN" sz="1600" b="1"/>
                  <a:t>OR</a:t>
                </a:r>
                <a:endParaRPr lang="en-US" altLang="zh-CN" sz="1600" b="1"/>
              </a:p>
              <a:p>
                <a:pPr algn="ctr"/>
                <a:r>
                  <a:rPr lang="en-US" altLang="zh-CN" sz="1600" b="1"/>
                  <a:t>f &gt; γ</a:t>
                </a:r>
                <a:endParaRPr lang="en-US" altLang="zh-CN" sz="1600" b="1"/>
              </a:p>
            </p:txBody>
          </p:sp>
        </mc:Choice>
        <mc:Fallback>
          <p:sp>
            <p:nvSpPr>
              <p:cNvPr id="163" name="文本框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785" y="5074920"/>
                <a:ext cx="1123950" cy="82994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" name="直接箭头连接符 163"/>
          <p:cNvCxnSpPr>
            <a:endCxn id="145" idx="0"/>
          </p:cNvCxnSpPr>
          <p:nvPr/>
        </p:nvCxnSpPr>
        <p:spPr>
          <a:xfrm>
            <a:off x="5227955" y="4267835"/>
            <a:ext cx="635" cy="1987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肘形连接符 167"/>
          <p:cNvCxnSpPr>
            <a:stCxn id="145" idx="1"/>
          </p:cNvCxnSpPr>
          <p:nvPr/>
        </p:nvCxnSpPr>
        <p:spPr>
          <a:xfrm rot="10800000" flipV="1">
            <a:off x="4288155" y="4761865"/>
            <a:ext cx="324485" cy="49149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肘形连接符 168"/>
          <p:cNvCxnSpPr>
            <a:stCxn id="145" idx="3"/>
            <a:endCxn id="156" idx="0"/>
          </p:cNvCxnSpPr>
          <p:nvPr/>
        </p:nvCxnSpPr>
        <p:spPr>
          <a:xfrm>
            <a:off x="5844540" y="4761865"/>
            <a:ext cx="619125" cy="2216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>
            <a:stCxn id="156" idx="1"/>
          </p:cNvCxnSpPr>
          <p:nvPr/>
        </p:nvCxnSpPr>
        <p:spPr>
          <a:xfrm rot="10800000" flipV="1">
            <a:off x="5276215" y="5518785"/>
            <a:ext cx="276860" cy="36766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肘形连接符 170"/>
          <p:cNvCxnSpPr>
            <a:stCxn id="156" idx="3"/>
          </p:cNvCxnSpPr>
          <p:nvPr/>
        </p:nvCxnSpPr>
        <p:spPr>
          <a:xfrm>
            <a:off x="7374255" y="5519420"/>
            <a:ext cx="315595" cy="36004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5" name="组合 174"/>
          <p:cNvGrpSpPr/>
          <p:nvPr/>
        </p:nvGrpSpPr>
        <p:grpSpPr>
          <a:xfrm>
            <a:off x="3862070" y="5253355"/>
            <a:ext cx="850900" cy="361950"/>
            <a:chOff x="6082" y="7974"/>
            <a:chExt cx="1340" cy="570"/>
          </a:xfrm>
        </p:grpSpPr>
        <p:sp>
          <p:nvSpPr>
            <p:cNvPr id="165" name="圆角矩形 164"/>
            <p:cNvSpPr/>
            <p:nvPr/>
          </p:nvSpPr>
          <p:spPr>
            <a:xfrm>
              <a:off x="6151" y="7974"/>
              <a:ext cx="1203" cy="57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algn="ctr">
              <a:solidFill>
                <a:schemeClr val="tx1"/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6082" y="7974"/>
              <a:ext cx="134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Merge</a:t>
              </a:r>
              <a:endParaRPr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4850130" y="5887085"/>
            <a:ext cx="850900" cy="361950"/>
            <a:chOff x="6082" y="7974"/>
            <a:chExt cx="1340" cy="570"/>
          </a:xfrm>
        </p:grpSpPr>
        <p:sp>
          <p:nvSpPr>
            <p:cNvPr id="223" name="圆角矩形 222"/>
            <p:cNvSpPr/>
            <p:nvPr/>
          </p:nvSpPr>
          <p:spPr>
            <a:xfrm>
              <a:off x="6151" y="7974"/>
              <a:ext cx="1203" cy="57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algn="ctr">
              <a:solidFill>
                <a:schemeClr val="tx1"/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6082" y="7974"/>
              <a:ext cx="134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Merge</a:t>
              </a:r>
              <a:endParaRPr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5" name="组合 224"/>
          <p:cNvGrpSpPr/>
          <p:nvPr/>
        </p:nvGrpSpPr>
        <p:grpSpPr>
          <a:xfrm>
            <a:off x="7306945" y="5878195"/>
            <a:ext cx="763905" cy="361950"/>
            <a:chOff x="6151" y="7974"/>
            <a:chExt cx="1203" cy="570"/>
          </a:xfrm>
        </p:grpSpPr>
        <p:sp>
          <p:nvSpPr>
            <p:cNvPr id="226" name="圆角矩形 225"/>
            <p:cNvSpPr/>
            <p:nvPr/>
          </p:nvSpPr>
          <p:spPr>
            <a:xfrm>
              <a:off x="6151" y="7974"/>
              <a:ext cx="1203" cy="57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algn="ctr">
              <a:solidFill>
                <a:schemeClr val="tx1"/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6195" y="7975"/>
              <a:ext cx="115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Hash</a:t>
              </a:r>
              <a:endParaRPr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8" name="文本框 227"/>
          <p:cNvSpPr txBox="1"/>
          <p:nvPr/>
        </p:nvSpPr>
        <p:spPr>
          <a:xfrm>
            <a:off x="4227830" y="4466590"/>
            <a:ext cx="485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No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6042025" y="4450715"/>
            <a:ext cx="485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Yes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5215890" y="5212715"/>
            <a:ext cx="485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No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7306945" y="5212080"/>
            <a:ext cx="485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Yes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4" name="直接连接符 233"/>
          <p:cNvCxnSpPr/>
          <p:nvPr/>
        </p:nvCxnSpPr>
        <p:spPr>
          <a:xfrm>
            <a:off x="10219055" y="2887345"/>
            <a:ext cx="8255" cy="13735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0" name="文本框 239"/>
          <p:cNvSpPr txBox="1"/>
          <p:nvPr/>
        </p:nvSpPr>
        <p:spPr>
          <a:xfrm>
            <a:off x="10418445" y="2731770"/>
            <a:ext cx="1292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before accumulation</a:t>
            </a:r>
            <a:endParaRPr lang="en-US" altLang="zh-CN" sz="1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: 圆角 4"/>
          <p:cNvSpPr/>
          <p:nvPr>
            <p:custDataLst>
              <p:tags r:id="rId1"/>
            </p:custDataLst>
          </p:nvPr>
        </p:nvSpPr>
        <p:spPr>
          <a:xfrm>
            <a:off x="5890260" y="1110615"/>
            <a:ext cx="6054725" cy="547814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83437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78765" y="30480"/>
            <a:ext cx="10719435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kumimoji="1" 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Design2: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Column-Domain Parallel Merge</a:t>
            </a:r>
            <a:endParaRPr kumimoji="1"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: 圆角 4"/>
          <p:cNvSpPr/>
          <p:nvPr>
            <p:custDataLst>
              <p:tags r:id="rId5"/>
            </p:custDataLst>
          </p:nvPr>
        </p:nvSpPr>
        <p:spPr>
          <a:xfrm>
            <a:off x="190500" y="1180465"/>
            <a:ext cx="5250815" cy="273939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39" name="矩形: 圆角 38"/>
          <p:cNvSpPr/>
          <p:nvPr>
            <p:custDataLst>
              <p:tags r:id="rId6"/>
            </p:custDataLst>
          </p:nvPr>
        </p:nvSpPr>
        <p:spPr>
          <a:xfrm>
            <a:off x="190500" y="876300"/>
            <a:ext cx="5250815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Motivation: Prior Merge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366010" y="1501140"/>
            <a:ext cx="2632710" cy="27241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366645" y="1863090"/>
            <a:ext cx="2633345" cy="27241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ctr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366645" y="2225675"/>
            <a:ext cx="2626360" cy="27241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ctr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686050" y="153670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848100" y="226504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390900" y="190119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067050" y="226504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254500" y="190119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99000" y="153670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432050" y="190119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32050" y="186309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0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686050" y="150114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1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067050" y="222504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2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90900" y="186309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3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48100" y="222504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6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254500" y="186182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8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699000" y="150114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79600" y="153670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1879600" y="190119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1879600" y="226568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左箭头 34"/>
          <p:cNvSpPr/>
          <p:nvPr/>
        </p:nvSpPr>
        <p:spPr>
          <a:xfrm>
            <a:off x="2166620" y="1565275"/>
            <a:ext cx="159385" cy="139065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左箭头 35"/>
          <p:cNvSpPr/>
          <p:nvPr/>
        </p:nvSpPr>
        <p:spPr>
          <a:xfrm>
            <a:off x="2170430" y="1929765"/>
            <a:ext cx="159385" cy="139065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7" name="左箭头 36"/>
          <p:cNvSpPr/>
          <p:nvPr/>
        </p:nvSpPr>
        <p:spPr>
          <a:xfrm>
            <a:off x="2170430" y="2294255"/>
            <a:ext cx="159385" cy="139065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左箭头 37"/>
          <p:cNvSpPr/>
          <p:nvPr/>
        </p:nvSpPr>
        <p:spPr>
          <a:xfrm>
            <a:off x="1442085" y="1565275"/>
            <a:ext cx="404495" cy="139065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左箭头 39"/>
          <p:cNvSpPr/>
          <p:nvPr/>
        </p:nvSpPr>
        <p:spPr>
          <a:xfrm>
            <a:off x="1442085" y="1929765"/>
            <a:ext cx="400685" cy="139065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1" name="左箭头 40"/>
          <p:cNvSpPr/>
          <p:nvPr/>
        </p:nvSpPr>
        <p:spPr>
          <a:xfrm>
            <a:off x="1442085" y="2294255"/>
            <a:ext cx="400685" cy="139065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B3B3B3"/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4907280" y="1482090"/>
                <a:ext cx="534035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280" y="1482090"/>
                <a:ext cx="534035" cy="3740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4912995" y="1830705"/>
                <a:ext cx="534035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995" y="1830705"/>
                <a:ext cx="534035" cy="37401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4921885" y="2195195"/>
                <a:ext cx="534035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885" y="2195195"/>
                <a:ext cx="534035" cy="37401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圆角矩形 45"/>
          <p:cNvSpPr/>
          <p:nvPr/>
        </p:nvSpPr>
        <p:spPr>
          <a:xfrm>
            <a:off x="355600" y="1501140"/>
            <a:ext cx="1009650" cy="10007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ctr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879600" y="150114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879600" y="1861185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8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879600" y="2221865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6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88925" y="1571625"/>
            <a:ext cx="115633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Compare</a:t>
            </a:r>
            <a:endParaRPr lang="en-US" altLang="zh-CN" sz="1500" b="1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500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Compact</a:t>
            </a:r>
            <a:endParaRPr lang="en-US" altLang="zh-CN" sz="1500" b="1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54" name="左箭头 53"/>
          <p:cNvSpPr/>
          <p:nvPr/>
        </p:nvSpPr>
        <p:spPr>
          <a:xfrm rot="16200000">
            <a:off x="720725" y="2413635"/>
            <a:ext cx="279400" cy="574040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B3B3B3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355600" y="2917190"/>
            <a:ext cx="2803525" cy="27241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ctr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403860" y="295211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3860" y="291719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0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779145" y="295211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1147445" y="295211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1506220" y="295211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79145" y="291719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1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147445" y="291338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2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506220" y="291338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3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2173605" y="264350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左箭头 70"/>
          <p:cNvSpPr/>
          <p:nvPr/>
        </p:nvSpPr>
        <p:spPr>
          <a:xfrm rot="16200000">
            <a:off x="2242820" y="2883535"/>
            <a:ext cx="159385" cy="139065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B3B3B3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u="sng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173605" y="260604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6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154045" y="2896235"/>
            <a:ext cx="16783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i="1">
                <a:solidFill>
                  <a:schemeClr val="bg2">
                    <a:lumMod val="7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column-sorted CSR</a:t>
            </a:r>
            <a:endParaRPr lang="en-US" altLang="zh-CN" sz="1400" i="1">
              <a:solidFill>
                <a:schemeClr val="bg2">
                  <a:lumMod val="7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55600" y="3266440"/>
            <a:ext cx="4779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C00000"/>
                </a:solidFill>
              </a:rPr>
              <a:t>Serial dependency </a:t>
            </a:r>
            <a:r>
              <a:rPr lang="en-US" altLang="zh-CN" sz="1600" b="1"/>
              <a:t>&amp; </a:t>
            </a:r>
            <a:r>
              <a:rPr lang="en-US" altLang="zh-CN" sz="1600" b="1">
                <a:solidFill>
                  <a:srgbClr val="C00000"/>
                </a:solidFill>
              </a:rPr>
              <a:t>Heavy rows</a:t>
            </a:r>
            <a:r>
              <a:rPr lang="en-US" altLang="zh-CN" sz="1600" b="1"/>
              <a:t> are stragglers</a:t>
            </a:r>
            <a:endParaRPr lang="zh-CN" altLang="en-US" sz="1600" b="1"/>
          </a:p>
        </p:txBody>
      </p:sp>
      <p:sp>
        <p:nvSpPr>
          <p:cNvPr id="78" name="文本框 77"/>
          <p:cNvSpPr txBox="1"/>
          <p:nvPr/>
        </p:nvSpPr>
        <p:spPr>
          <a:xfrm>
            <a:off x="180975" y="3571875"/>
            <a:ext cx="5271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/>
              <a:t>That is why fast GPU SpGEMMs abandoned merge for hash</a:t>
            </a:r>
            <a:endParaRPr lang="en-US" altLang="zh-CN" sz="1400" b="1" i="1"/>
          </a:p>
        </p:txBody>
      </p:sp>
      <p:sp>
        <p:nvSpPr>
          <p:cNvPr id="79" name="右箭头 78"/>
          <p:cNvSpPr/>
          <p:nvPr/>
        </p:nvSpPr>
        <p:spPr>
          <a:xfrm>
            <a:off x="5527040" y="1891030"/>
            <a:ext cx="285750" cy="12001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矩形: 圆角 38"/>
          <p:cNvSpPr/>
          <p:nvPr>
            <p:custDataLst>
              <p:tags r:id="rId10"/>
            </p:custDataLst>
          </p:nvPr>
        </p:nvSpPr>
        <p:spPr>
          <a:xfrm>
            <a:off x="5890260" y="876300"/>
            <a:ext cx="6054725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Ours: Disjoint column buckets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384925" y="1638935"/>
            <a:ext cx="1617345" cy="1127125"/>
          </a:xfrm>
          <a:prstGeom prst="roundRect">
            <a:avLst>
              <a:gd name="adj" fmla="val 5327"/>
            </a:avLst>
          </a:prstGeom>
          <a:solidFill>
            <a:srgbClr val="E5F2F5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850890" y="1675765"/>
                <a:ext cx="534035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890" y="1675765"/>
                <a:ext cx="534035" cy="3740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5863590" y="2392045"/>
                <a:ext cx="534035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590" y="2392045"/>
                <a:ext cx="534035" cy="37401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5863590" y="2027555"/>
                <a:ext cx="534035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590" y="2027555"/>
                <a:ext cx="534035" cy="37401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圆角矩形 56"/>
          <p:cNvSpPr/>
          <p:nvPr/>
        </p:nvSpPr>
        <p:spPr>
          <a:xfrm>
            <a:off x="7000240" y="1704340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7545705" y="2433320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456680" y="20656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4699000" y="226758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699000" y="223012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456680" y="20662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0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000240" y="17043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1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7545705" y="243332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2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/>
              <p:cNvSpPr txBox="1"/>
              <p:nvPr/>
            </p:nvSpPr>
            <p:spPr>
              <a:xfrm>
                <a:off x="6731635" y="1301750"/>
                <a:ext cx="863600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𝑩𝒖𝒄𝒌𝒆𝒕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sz="16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635" y="1301750"/>
                <a:ext cx="863600" cy="37401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8486140" y="1330325"/>
                <a:ext cx="863600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𝑩𝒖𝒄𝒌𝒆𝒕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sz="16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140" y="1330325"/>
                <a:ext cx="863600" cy="37401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/>
              <p:cNvSpPr txBox="1"/>
              <p:nvPr/>
            </p:nvSpPr>
            <p:spPr>
              <a:xfrm>
                <a:off x="10209530" y="1339850"/>
                <a:ext cx="863600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𝑩𝒖𝒄𝒌𝒆𝒕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16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7" name="文本框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530" y="1339850"/>
                <a:ext cx="863600" cy="37401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下箭头 97"/>
          <p:cNvSpPr/>
          <p:nvPr/>
        </p:nvSpPr>
        <p:spPr>
          <a:xfrm>
            <a:off x="6949440" y="2827655"/>
            <a:ext cx="488950" cy="205105"/>
          </a:xfrm>
          <a:prstGeom prst="downArrow">
            <a:avLst/>
          </a:prstGeom>
          <a:solidFill>
            <a:srgbClr val="E5F2F5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6633845" y="3072765"/>
            <a:ext cx="1119505" cy="360680"/>
          </a:xfrm>
          <a:prstGeom prst="roundRect">
            <a:avLst>
              <a:gd name="adj" fmla="val 33430"/>
            </a:avLst>
          </a:prstGeom>
          <a:solidFill>
            <a:srgbClr val="E5F2F5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8110220" y="1638935"/>
            <a:ext cx="1617345" cy="1127125"/>
          </a:xfrm>
          <a:prstGeom prst="roundRect">
            <a:avLst>
              <a:gd name="adj" fmla="val 5327"/>
            </a:avLst>
          </a:prstGeom>
          <a:solidFill>
            <a:srgbClr val="C7E5EB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9271000" y="2433320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8181975" y="20656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181975" y="20662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3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9271000" y="243332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6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9832975" y="1638935"/>
            <a:ext cx="1617345" cy="1127125"/>
          </a:xfrm>
          <a:prstGeom prst="roundRect">
            <a:avLst>
              <a:gd name="adj" fmla="val 5327"/>
            </a:avLst>
          </a:prstGeom>
          <a:solidFill>
            <a:srgbClr val="A6D5DE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10993755" y="17037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10993755" y="2433320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10448290" y="2068830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0448290" y="2064385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8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0993755" y="1703705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0993755" y="243332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6626225" y="3088005"/>
            <a:ext cx="112014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warp-shfl</a:t>
            </a:r>
            <a:endParaRPr lang="en-US" altLang="zh-CN" sz="150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18" name="下箭头 117"/>
          <p:cNvSpPr/>
          <p:nvPr/>
        </p:nvSpPr>
        <p:spPr>
          <a:xfrm>
            <a:off x="6949440" y="3512820"/>
            <a:ext cx="488950" cy="163830"/>
          </a:xfrm>
          <a:prstGeom prst="downArrow">
            <a:avLst/>
          </a:prstGeom>
          <a:solidFill>
            <a:srgbClr val="E5F2F5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6384925" y="3749040"/>
            <a:ext cx="1617345" cy="360680"/>
          </a:xfrm>
          <a:prstGeom prst="roundRect">
            <a:avLst>
              <a:gd name="adj" fmla="val 33430"/>
            </a:avLst>
          </a:prstGeom>
          <a:solidFill>
            <a:srgbClr val="E5F2F5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6456680" y="37992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7000240" y="37992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7545705" y="37992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6456680" y="37998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0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000240" y="37998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1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7545705" y="37998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2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51" name="下箭头 150"/>
          <p:cNvSpPr/>
          <p:nvPr/>
        </p:nvSpPr>
        <p:spPr>
          <a:xfrm>
            <a:off x="8682355" y="2827655"/>
            <a:ext cx="488950" cy="205105"/>
          </a:xfrm>
          <a:prstGeom prst="downArrow">
            <a:avLst/>
          </a:prstGeom>
          <a:solidFill>
            <a:srgbClr val="C7E5EB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8366760" y="3072765"/>
            <a:ext cx="1119505" cy="360680"/>
          </a:xfrm>
          <a:prstGeom prst="roundRect">
            <a:avLst>
              <a:gd name="adj" fmla="val 33430"/>
            </a:avLst>
          </a:prstGeom>
          <a:solidFill>
            <a:srgbClr val="C7E5EB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8366125" y="3094990"/>
            <a:ext cx="112014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warp-shfl</a:t>
            </a:r>
            <a:endParaRPr lang="en-US" altLang="zh-CN" sz="150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54" name="下箭头 153"/>
          <p:cNvSpPr/>
          <p:nvPr/>
        </p:nvSpPr>
        <p:spPr>
          <a:xfrm>
            <a:off x="8682355" y="3512820"/>
            <a:ext cx="488950" cy="163830"/>
          </a:xfrm>
          <a:prstGeom prst="downArrow">
            <a:avLst/>
          </a:prstGeom>
          <a:solidFill>
            <a:srgbClr val="C7E5EB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8117840" y="3749040"/>
            <a:ext cx="1617345" cy="360680"/>
          </a:xfrm>
          <a:prstGeom prst="roundRect">
            <a:avLst>
              <a:gd name="adj" fmla="val 33430"/>
            </a:avLst>
          </a:prstGeom>
          <a:solidFill>
            <a:srgbClr val="C7E5EB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8189595" y="37992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9278620" y="37992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189595" y="37998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3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9278620" y="37998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6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62" name="下箭头 161"/>
          <p:cNvSpPr/>
          <p:nvPr/>
        </p:nvSpPr>
        <p:spPr>
          <a:xfrm>
            <a:off x="10396855" y="2827655"/>
            <a:ext cx="488950" cy="205105"/>
          </a:xfrm>
          <a:prstGeom prst="downArrow">
            <a:avLst/>
          </a:prstGeom>
          <a:solidFill>
            <a:srgbClr val="A6D5DE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10081260" y="3072765"/>
            <a:ext cx="1119505" cy="360680"/>
          </a:xfrm>
          <a:prstGeom prst="roundRect">
            <a:avLst>
              <a:gd name="adj" fmla="val 33430"/>
            </a:avLst>
          </a:prstGeom>
          <a:solidFill>
            <a:srgbClr val="A6D5DE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10081260" y="3094990"/>
            <a:ext cx="112014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warp-shfl</a:t>
            </a:r>
            <a:endParaRPr lang="en-US" altLang="zh-CN" sz="150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65" name="下箭头 164"/>
          <p:cNvSpPr/>
          <p:nvPr/>
        </p:nvSpPr>
        <p:spPr>
          <a:xfrm>
            <a:off x="10396855" y="3512820"/>
            <a:ext cx="488950" cy="163830"/>
          </a:xfrm>
          <a:prstGeom prst="downArrow">
            <a:avLst/>
          </a:prstGeom>
          <a:solidFill>
            <a:srgbClr val="A6D5DE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6" name="圆角矩形 165"/>
          <p:cNvSpPr/>
          <p:nvPr/>
        </p:nvSpPr>
        <p:spPr>
          <a:xfrm>
            <a:off x="9832340" y="3749040"/>
            <a:ext cx="1617345" cy="360680"/>
          </a:xfrm>
          <a:prstGeom prst="roundRect">
            <a:avLst>
              <a:gd name="adj" fmla="val 33430"/>
            </a:avLst>
          </a:prstGeom>
          <a:solidFill>
            <a:srgbClr val="A6D5DE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10447655" y="37992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10993120" y="379920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0447655" y="37998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8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0993120" y="379984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75" name="圆角矩形 174"/>
          <p:cNvSpPr/>
          <p:nvPr/>
        </p:nvSpPr>
        <p:spPr>
          <a:xfrm>
            <a:off x="10993120" y="344233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10993120" y="344297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77" name="右弧形箭头 176"/>
          <p:cNvSpPr/>
          <p:nvPr/>
        </p:nvSpPr>
        <p:spPr>
          <a:xfrm>
            <a:off x="11449685" y="3571240"/>
            <a:ext cx="165100" cy="426720"/>
          </a:xfrm>
          <a:prstGeom prst="curvedLeftArrow">
            <a:avLst/>
          </a:prstGeom>
          <a:solidFill>
            <a:srgbClr val="0D77C3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11546840" y="3471545"/>
            <a:ext cx="398145" cy="568325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altLang="zh-CN" sz="1400">
                <a:latin typeface="Cambria Math" panose="02040503050406030204" charset="0"/>
                <a:cs typeface="Cambria Math" panose="02040503050406030204" charset="0"/>
              </a:rPr>
              <a:t>Add</a:t>
            </a:r>
            <a:endParaRPr lang="en-US" altLang="zh-CN" sz="140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6384925" y="4352290"/>
            <a:ext cx="5064760" cy="360680"/>
          </a:xfrm>
          <a:prstGeom prst="roundRect">
            <a:avLst>
              <a:gd name="adj" fmla="val 33430"/>
            </a:avLst>
          </a:prstGeom>
          <a:solidFill>
            <a:srgbClr val="79D3DD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1" name="圆角矩形 180"/>
          <p:cNvSpPr/>
          <p:nvPr/>
        </p:nvSpPr>
        <p:spPr>
          <a:xfrm>
            <a:off x="6456680" y="44024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7000240" y="44024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3" name="圆角矩形 182"/>
          <p:cNvSpPr/>
          <p:nvPr/>
        </p:nvSpPr>
        <p:spPr>
          <a:xfrm>
            <a:off x="7545705" y="44024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6456680" y="44030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0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7000240" y="44030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1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7545705" y="44030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2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8189595" y="44024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8" name="圆角矩形 187"/>
          <p:cNvSpPr/>
          <p:nvPr/>
        </p:nvSpPr>
        <p:spPr>
          <a:xfrm>
            <a:off x="9278620" y="44024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8189595" y="44030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3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9278620" y="44030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6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10447655" y="44024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10993120" y="440245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10447655" y="44030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8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0993120" y="440309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本框 194"/>
              <p:cNvSpPr txBox="1"/>
              <p:nvPr/>
            </p:nvSpPr>
            <p:spPr>
              <a:xfrm>
                <a:off x="5866130" y="4352290"/>
                <a:ext cx="534035" cy="374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 ;]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5" name="文本框 1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30" y="4352290"/>
                <a:ext cx="534035" cy="37401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下箭头 196"/>
          <p:cNvSpPr/>
          <p:nvPr/>
        </p:nvSpPr>
        <p:spPr>
          <a:xfrm>
            <a:off x="7839075" y="4160520"/>
            <a:ext cx="426720" cy="144780"/>
          </a:xfrm>
          <a:prstGeom prst="downArrow">
            <a:avLst/>
          </a:prstGeom>
          <a:solidFill>
            <a:srgbClr val="C7E5EB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0" name="下箭头 199"/>
          <p:cNvSpPr/>
          <p:nvPr/>
        </p:nvSpPr>
        <p:spPr>
          <a:xfrm>
            <a:off x="9566275" y="4160520"/>
            <a:ext cx="426720" cy="144780"/>
          </a:xfrm>
          <a:prstGeom prst="downArrow">
            <a:avLst/>
          </a:prstGeom>
          <a:solidFill>
            <a:srgbClr val="C7E5EB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6026150" y="5066030"/>
            <a:ext cx="5774055" cy="1379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6028690" y="4926330"/>
            <a:ext cx="5774055" cy="1597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zh-CN" sz="1700" b="1"/>
          </a:p>
          <a:p>
            <a:pPr algn="l"/>
            <a:r>
              <a:rPr lang="en-US" altLang="zh-CN" sz="1700" b="1"/>
              <a:t>- Disjoint buckets concatenate to a </a:t>
            </a:r>
            <a:r>
              <a:rPr lang="en-US" altLang="zh-CN" sz="1700" b="1">
                <a:solidFill>
                  <a:srgbClr val="C00000"/>
                </a:solidFill>
              </a:rPr>
              <a:t>column-sorted row</a:t>
            </a:r>
            <a:r>
              <a:rPr lang="en-US" altLang="zh-CN" sz="1700" b="1">
                <a:solidFill>
                  <a:schemeClr val="tx1"/>
                </a:solidFill>
              </a:rPr>
              <a:t> </a:t>
            </a:r>
            <a:r>
              <a:rPr lang="en-US" altLang="zh-CN" sz="1700" b="1"/>
              <a:t>- Both </a:t>
            </a:r>
            <a:r>
              <a:rPr lang="en-US" altLang="zh-CN" sz="1700" b="1">
                <a:solidFill>
                  <a:srgbClr val="C00000"/>
                </a:solidFill>
              </a:rPr>
              <a:t>parallel</a:t>
            </a:r>
            <a:r>
              <a:rPr lang="en-US" altLang="zh-CN" sz="1700" b="1">
                <a:solidFill>
                  <a:srgbClr val="FF0000"/>
                </a:solidFill>
              </a:rPr>
              <a:t> </a:t>
            </a:r>
            <a:r>
              <a:rPr lang="en-US" altLang="zh-CN" sz="1700" b="1"/>
              <a:t>and </a:t>
            </a:r>
            <a:r>
              <a:rPr lang="en-US" altLang="zh-CN" sz="1700" b="1">
                <a:solidFill>
                  <a:srgbClr val="C00000"/>
                </a:solidFill>
              </a:rPr>
              <a:t>order-preserving</a:t>
            </a:r>
            <a:endParaRPr lang="en-US" altLang="zh-CN" sz="1700" b="1">
              <a:solidFill>
                <a:srgbClr val="C00000"/>
              </a:solidFill>
            </a:endParaRPr>
          </a:p>
          <a:p>
            <a:pPr algn="l"/>
            <a:r>
              <a:rPr lang="en-US" altLang="zh-CN" sz="1700" b="1"/>
              <a:t>- No global sort</a:t>
            </a:r>
            <a:endParaRPr lang="en-US" altLang="zh-CN" sz="1700" b="1">
              <a:solidFill>
                <a:srgbClr val="C00000"/>
              </a:solidFill>
            </a:endParaRPr>
          </a:p>
          <a:p>
            <a:pPr algn="l"/>
            <a:r>
              <a:rPr lang="en-US" altLang="zh-CN" sz="1700" b="1">
                <a:solidFill>
                  <a:schemeClr val="tx1"/>
                </a:solidFill>
              </a:rPr>
              <a:t>- Directly produces C[i,:]</a:t>
            </a:r>
            <a:r>
              <a:rPr lang="en-US" altLang="zh-CN" sz="1700" b="1">
                <a:solidFill>
                  <a:srgbClr val="C00000"/>
                </a:solidFill>
              </a:rPr>
              <a:t> in sorted order</a:t>
            </a:r>
            <a:endParaRPr lang="en-US" altLang="zh-CN" sz="1700" b="1">
              <a:solidFill>
                <a:srgbClr val="C00000"/>
              </a:solidFill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6384925" y="4702175"/>
            <a:ext cx="52298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>
                <a:solidFill>
                  <a:srgbClr val="1485A4"/>
                </a:solidFill>
                <a:latin typeface="Cambria Math" panose="02040503050406030204" charset="0"/>
                <a:cs typeface="Cambria Math" panose="02040503050406030204" charset="0"/>
              </a:rPr>
              <a:t>parallel axis:rows + K-chains + column domain</a:t>
            </a:r>
            <a:endParaRPr lang="en-US" altLang="zh-CN" sz="1400" b="1" i="1">
              <a:solidFill>
                <a:srgbClr val="1485A4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208" name="右箭头 207"/>
          <p:cNvSpPr/>
          <p:nvPr/>
        </p:nvSpPr>
        <p:spPr>
          <a:xfrm rot="10800000">
            <a:off x="5527040" y="4535170"/>
            <a:ext cx="285750" cy="12001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210" name="图片 209" descr="merge2_vs_merge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075" y="3997960"/>
            <a:ext cx="5170170" cy="2591435"/>
          </a:xfrm>
          <a:prstGeom prst="rect">
            <a:avLst/>
          </a:prstGeom>
        </p:spPr>
      </p:pic>
      <p:sp>
        <p:nvSpPr>
          <p:cNvPr id="212" name="矩形: 圆角 4"/>
          <p:cNvSpPr/>
          <p:nvPr>
            <p:custDataLst>
              <p:tags r:id="rId16"/>
            </p:custDataLst>
          </p:nvPr>
        </p:nvSpPr>
        <p:spPr>
          <a:xfrm>
            <a:off x="189865" y="4014470"/>
            <a:ext cx="5250815" cy="258572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3740" y="2565400"/>
            <a:ext cx="16783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 b="1" i="1">
                <a:solidFill>
                  <a:schemeClr val="bg2">
                    <a:lumMod val="7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Serial Select</a:t>
            </a:r>
            <a:endParaRPr lang="en-US" altLang="zh-CN" sz="1200" b="1" i="1">
              <a:solidFill>
                <a:schemeClr val="bg2">
                  <a:lumMod val="7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90865" y="4109720"/>
            <a:ext cx="144526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Concatenate Buckets</a:t>
            </a:r>
            <a:endParaRPr lang="en-US" altLang="zh-CN" sz="1100" b="1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73605" y="4034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Speedup:</a:t>
            </a:r>
            <a:endParaRPr lang="en-US" altLang="zh-CN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矩形: 圆角 4"/>
          <p:cNvSpPr/>
          <p:nvPr>
            <p:custDataLst>
              <p:tags r:id="rId1"/>
            </p:custDataLst>
          </p:nvPr>
        </p:nvSpPr>
        <p:spPr>
          <a:xfrm>
            <a:off x="151130" y="1625600"/>
            <a:ext cx="4057015" cy="496062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pic>
        <p:nvPicPr>
          <p:cNvPr id="200" name="图片 199" descr="hash_symbolic_c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805" y="4671060"/>
            <a:ext cx="3637915" cy="1849755"/>
          </a:xfrm>
          <a:prstGeom prst="rect">
            <a:avLst/>
          </a:prstGeom>
        </p:spPr>
      </p:pic>
      <p:sp>
        <p:nvSpPr>
          <p:cNvPr id="38" name="矩形: 圆角 4"/>
          <p:cNvSpPr/>
          <p:nvPr>
            <p:custDataLst>
              <p:tags r:id="rId3"/>
            </p:custDataLst>
          </p:nvPr>
        </p:nvSpPr>
        <p:spPr>
          <a:xfrm>
            <a:off x="4468495" y="1625600"/>
            <a:ext cx="7476490" cy="495998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288290" y="30480"/>
            <a:ext cx="10709856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Design3: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Light-Symbolic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MinHash</a:t>
            </a:r>
            <a:endParaRPr kumimoji="1"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opsparse_b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7445" y="784860"/>
            <a:ext cx="9527540" cy="5657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58425" y="919480"/>
            <a:ext cx="2381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</a:rPr>
              <a:t>else cost 21%</a:t>
            </a:r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3" name="矩形: 圆角 38"/>
          <p:cNvSpPr/>
          <p:nvPr>
            <p:custDataLst>
              <p:tags r:id="rId8"/>
            </p:custDataLst>
          </p:nvPr>
        </p:nvSpPr>
        <p:spPr>
          <a:xfrm>
            <a:off x="151130" y="808355"/>
            <a:ext cx="2205990" cy="52070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Stage-Profiling 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: 圆角 38"/>
          <p:cNvSpPr/>
          <p:nvPr>
            <p:custDataLst>
              <p:tags r:id="rId9"/>
            </p:custDataLst>
          </p:nvPr>
        </p:nvSpPr>
        <p:spPr>
          <a:xfrm>
            <a:off x="4468495" y="1457325"/>
            <a:ext cx="7476490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Ours:  Light  Symbolic Sizing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679315" y="2176145"/>
            <a:ext cx="1434465" cy="1193165"/>
          </a:xfrm>
          <a:prstGeom prst="roundRect">
            <a:avLst>
              <a:gd name="adj" fmla="val 9601"/>
            </a:avLst>
          </a:prstGeom>
          <a:solidFill>
            <a:srgbClr val="A6D5DE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01870" y="1910715"/>
            <a:ext cx="13119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Cambria Math" panose="02040503050406030204" charset="0"/>
                <a:cs typeface="Cambria Math" panose="02040503050406030204" charset="0"/>
              </a:rPr>
              <a:t>A(operand)</a:t>
            </a:r>
            <a:endParaRPr lang="en-US" altLang="zh-CN" sz="1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4756785" y="224091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4756785" y="224155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5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254625" y="224091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54625" y="224155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8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867910" y="263842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67910" y="263906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2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641340" y="2638425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41340" y="2639060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12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417820" y="3036570"/>
            <a:ext cx="386715" cy="259715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17820" y="3037205"/>
            <a:ext cx="386715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9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602730" y="2174875"/>
            <a:ext cx="1352550" cy="12128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09080" y="1910715"/>
            <a:ext cx="13119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Cambria Math" panose="02040503050406030204" charset="0"/>
                <a:cs typeface="Cambria Math" panose="02040503050406030204" charset="0"/>
              </a:rPr>
              <a:t>MurmurHash</a:t>
            </a:r>
            <a:endParaRPr lang="en-US" altLang="zh-CN" sz="1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26225" y="2235835"/>
            <a:ext cx="1449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h(5) = 0x3FC9BA20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26225" y="2454910"/>
            <a:ext cx="14490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h(8) = 0x9C44AB21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23050" y="2899410"/>
            <a:ext cx="15792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h(2) = 0x1E3C6C20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626225" y="2673985"/>
            <a:ext cx="15474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h(12) = 0x4E193E58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26" name="右箭头 25"/>
          <p:cNvSpPr/>
          <p:nvPr/>
        </p:nvSpPr>
        <p:spPr>
          <a:xfrm>
            <a:off x="6210935" y="2597785"/>
            <a:ext cx="347345" cy="298450"/>
          </a:xfrm>
          <a:prstGeom prst="rightArrow">
            <a:avLst/>
          </a:prstGeom>
          <a:solidFill>
            <a:srgbClr val="E5F2F5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083040" y="1868170"/>
            <a:ext cx="19678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Cambria Math" panose="02040503050406030204" charset="0"/>
                <a:cs typeface="Cambria Math" panose="02040503050406030204" charset="0"/>
              </a:rPr>
              <a:t>Partition By Low 7-bits</a:t>
            </a:r>
            <a:endParaRPr lang="en-US" altLang="zh-CN" sz="1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704580" y="229171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9674860" y="2291715"/>
            <a:ext cx="852170" cy="236220"/>
          </a:xfrm>
          <a:prstGeom prst="roundRect">
            <a:avLst>
              <a:gd name="adj" fmla="val 9946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右箭头 33"/>
          <p:cNvSpPr/>
          <p:nvPr/>
        </p:nvSpPr>
        <p:spPr>
          <a:xfrm>
            <a:off x="8009890" y="2595880"/>
            <a:ext cx="654685" cy="298450"/>
          </a:xfrm>
          <a:prstGeom prst="rightArrow">
            <a:avLst/>
          </a:prstGeom>
          <a:solidFill>
            <a:srgbClr val="E5F2F5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881620" y="2450465"/>
            <a:ext cx="9105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C00000"/>
                </a:solidFill>
                <a:latin typeface="Cambria Math" panose="02040503050406030204" charset="0"/>
                <a:cs typeface="Cambria Math" panose="02040503050406030204" charset="0"/>
              </a:rPr>
              <a:t>atomicMin </a:t>
            </a:r>
            <a:endParaRPr lang="en-US" altLang="zh-CN" sz="1200" b="1">
              <a:solidFill>
                <a:srgbClr val="C00000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8928735" y="2062480"/>
                <a:ext cx="338455" cy="228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rgbClr val="00206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735" y="2062480"/>
                <a:ext cx="338455" cy="2286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9937115" y="2062480"/>
                <a:ext cx="338455" cy="228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rgbClr val="00206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115" y="2062480"/>
                <a:ext cx="338455" cy="2286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10887710" y="2062480"/>
                <a:ext cx="338455" cy="228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rgbClr val="00206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10" y="2062480"/>
                <a:ext cx="338455" cy="2286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11482705" y="2258695"/>
                <a:ext cx="437515" cy="2692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𝑆𝑘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0D77C3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2705" y="2258695"/>
                <a:ext cx="437515" cy="26924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11482705" y="2593340"/>
                <a:ext cx="437515" cy="2692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𝑆𝑘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0D77C3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2705" y="2593340"/>
                <a:ext cx="437515" cy="26924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/>
              <p:cNvSpPr txBox="1"/>
              <p:nvPr/>
            </p:nvSpPr>
            <p:spPr>
              <a:xfrm>
                <a:off x="11482705" y="2929255"/>
                <a:ext cx="437515" cy="2692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𝑆𝑘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0D77C3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2705" y="2929255"/>
                <a:ext cx="437515" cy="26924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下箭头 59"/>
          <p:cNvSpPr/>
          <p:nvPr/>
        </p:nvSpPr>
        <p:spPr>
          <a:xfrm>
            <a:off x="9830435" y="3241675"/>
            <a:ext cx="490220" cy="240030"/>
          </a:xfrm>
          <a:prstGeom prst="downArrow">
            <a:avLst/>
          </a:prstGeom>
          <a:solidFill>
            <a:srgbClr val="E5F2F5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621780" y="3112770"/>
            <a:ext cx="16402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h(9) = 0xAD44AC32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829800" y="2300605"/>
            <a:ext cx="5226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∅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17" name="矩形: 圆角 4"/>
          <p:cNvSpPr/>
          <p:nvPr>
            <p:custDataLst>
              <p:tags r:id="rId16"/>
            </p:custDataLst>
          </p:nvPr>
        </p:nvSpPr>
        <p:spPr>
          <a:xfrm>
            <a:off x="8662670" y="4385945"/>
            <a:ext cx="2900045" cy="375285"/>
          </a:xfrm>
          <a:prstGeom prst="roundRect">
            <a:avLst>
              <a:gd name="adj" fmla="val 2900"/>
            </a:avLst>
          </a:prstGeom>
          <a:noFill/>
          <a:ln w="28575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本框 117"/>
              <p:cNvSpPr txBox="1"/>
              <p:nvPr/>
            </p:nvSpPr>
            <p:spPr>
              <a:xfrm>
                <a:off x="8928735" y="3448050"/>
                <a:ext cx="437515" cy="2692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𝑆𝑘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0D77C3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8" name="文本框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735" y="3448050"/>
                <a:ext cx="437515" cy="26924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/>
              <p:cNvSpPr txBox="1"/>
              <p:nvPr/>
            </p:nvSpPr>
            <p:spPr>
              <a:xfrm>
                <a:off x="9882505" y="3437255"/>
                <a:ext cx="437515" cy="2692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𝑆𝑘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0D77C3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505" y="3437255"/>
                <a:ext cx="437515" cy="26924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本框 119"/>
              <p:cNvSpPr txBox="1"/>
              <p:nvPr/>
            </p:nvSpPr>
            <p:spPr>
              <a:xfrm>
                <a:off x="10863580" y="3430270"/>
                <a:ext cx="437515" cy="2692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𝑆𝑘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D77C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0D77C3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580" y="3430270"/>
                <a:ext cx="437515" cy="26924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本框 120"/>
              <p:cNvSpPr txBox="1"/>
              <p:nvPr/>
            </p:nvSpPr>
            <p:spPr>
              <a:xfrm>
                <a:off x="11492865" y="3689985"/>
                <a:ext cx="338455" cy="228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rgbClr val="00206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1" name="文本框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2865" y="3689985"/>
                <a:ext cx="338455" cy="2286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/>
              <p:cNvSpPr txBox="1"/>
              <p:nvPr/>
            </p:nvSpPr>
            <p:spPr>
              <a:xfrm>
                <a:off x="11489055" y="4058285"/>
                <a:ext cx="338455" cy="228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rgbClr val="00206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3" name="文本框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9055" y="4058285"/>
                <a:ext cx="338455" cy="2286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本框 123"/>
              <p:cNvSpPr txBox="1"/>
              <p:nvPr/>
            </p:nvSpPr>
            <p:spPr>
              <a:xfrm>
                <a:off x="11492865" y="4441825"/>
                <a:ext cx="338455" cy="228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rgbClr val="00206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4" name="文本框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2865" y="4441825"/>
                <a:ext cx="338455" cy="2286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文本框 126"/>
          <p:cNvSpPr txBox="1"/>
          <p:nvPr/>
        </p:nvSpPr>
        <p:spPr>
          <a:xfrm>
            <a:off x="9119235" y="4773295"/>
            <a:ext cx="18656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</a:rPr>
              <a:t>Take </a:t>
            </a:r>
            <a:r>
              <a:rPr lang="en-US" altLang="zh-CN" sz="1200" b="1">
                <a:solidFill>
                  <a:srgbClr val="C00000"/>
                </a:solidFill>
                <a:latin typeface="Cambria Math" panose="02040503050406030204" charset="0"/>
                <a:cs typeface="Cambria Math" panose="02040503050406030204" charset="0"/>
              </a:rPr>
              <a:t>Minimum</a:t>
            </a:r>
            <a:r>
              <a:rPr lang="en-US" altLang="zh-CN" sz="1200" b="1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</a:rPr>
              <a:t> in Bucket </a:t>
            </a:r>
            <a:endParaRPr lang="en-US" altLang="zh-CN" sz="1200" b="1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6860540" y="3446145"/>
            <a:ext cx="1326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C00000"/>
                </a:solidFill>
                <a:latin typeface="Cambria Math" panose="02040503050406030204" charset="0"/>
                <a:cs typeface="Cambria Math" panose="02040503050406030204" charset="0"/>
              </a:rPr>
              <a:t>Sketch of C[i , ;] </a:t>
            </a:r>
            <a:endParaRPr lang="en-US" altLang="zh-CN" sz="1200" b="1">
              <a:solidFill>
                <a:srgbClr val="C00000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4535170" y="3775075"/>
            <a:ext cx="1837690" cy="765175"/>
          </a:xfrm>
          <a:prstGeom prst="roundRect">
            <a:avLst>
              <a:gd name="adj" fmla="val 9601"/>
            </a:avLst>
          </a:prstGeom>
          <a:solidFill>
            <a:srgbClr val="C7E5EB"/>
          </a:solidFill>
          <a:ln w="9525" algn="ctr">
            <a:solidFill>
              <a:srgbClr val="0D77C3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本框 143"/>
              <p:cNvSpPr txBox="1"/>
              <p:nvPr/>
            </p:nvSpPr>
            <p:spPr>
              <a:xfrm>
                <a:off x="4472940" y="3860165"/>
                <a:ext cx="1957070" cy="6623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𝒏𝒏𝒛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𝒋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ea typeface="Ms.Luce" panose="00000400000000000000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ea typeface="Ms.Luce" panose="00000400000000000000" charset="0"/>
                                      <a:cs typeface="Cambria Math" panose="02040503050406030204" charset="0"/>
                                    </a:rPr>
                                    <m:t>𝟑𝟐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𝒎𝒊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𝒋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𝒎</m:t>
                      </m:r>
                    </m:oMath>
                  </m:oMathPara>
                </a14:m>
                <a:endParaRPr lang="en-US" altLang="zh-CN" sz="1400" b="1" i="1">
                  <a:solidFill>
                    <a:srgbClr val="C0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4" name="文本框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940" y="3860165"/>
                <a:ext cx="1957070" cy="66230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圆角矩形 201"/>
          <p:cNvSpPr/>
          <p:nvPr/>
        </p:nvSpPr>
        <p:spPr>
          <a:xfrm>
            <a:off x="8333105" y="5059045"/>
            <a:ext cx="3545205" cy="1437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8348980" y="4972685"/>
            <a:ext cx="3529330" cy="1504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altLang="zh-CN" sz="1700" b="1"/>
          </a:p>
          <a:p>
            <a:pPr algn="l"/>
            <a:r>
              <a:rPr lang="en-US" altLang="zh-CN" sz="1700" b="1"/>
              <a:t>- Skips exact symbolic counting </a:t>
            </a:r>
            <a:endParaRPr lang="en-US" altLang="zh-CN" sz="1700" b="1"/>
          </a:p>
          <a:p>
            <a:pPr algn="l"/>
            <a:r>
              <a:rPr lang="en-US" altLang="zh-CN" sz="1700" b="1"/>
              <a:t>- Significantly reduces the time cost (1.4x~3.3x)</a:t>
            </a:r>
            <a:endParaRPr lang="en-US" altLang="zh-CN" sz="1700" b="1"/>
          </a:p>
          <a:p>
            <a:pPr algn="l"/>
            <a:r>
              <a:rPr lang="en-US" altLang="zh-CN" sz="1700" b="1"/>
              <a:t>- Time Complexity: </a:t>
            </a:r>
            <a:r>
              <a:rPr lang="en-US" altLang="zh-CN" sz="1700" b="1">
                <a:solidFill>
                  <a:srgbClr val="C00000"/>
                </a:solidFill>
              </a:rPr>
              <a:t>O(nnz)</a:t>
            </a:r>
            <a:endParaRPr lang="en-US" altLang="zh-CN" sz="1700" b="1">
              <a:solidFill>
                <a:srgbClr val="C00000"/>
              </a:solidFill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8702675" y="3721735"/>
            <a:ext cx="852170" cy="254000"/>
            <a:chOff x="14984" y="5841"/>
            <a:chExt cx="1342" cy="400"/>
          </a:xfrm>
        </p:grpSpPr>
        <p:sp>
          <p:nvSpPr>
            <p:cNvPr id="150" name="圆角矩形 149"/>
            <p:cNvSpPr/>
            <p:nvPr/>
          </p:nvSpPr>
          <p:spPr>
            <a:xfrm>
              <a:off x="14984" y="5841"/>
              <a:ext cx="1342" cy="372"/>
            </a:xfrm>
            <a:prstGeom prst="roundRect">
              <a:avLst>
                <a:gd name="adj" fmla="val 9946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15228" y="5855"/>
              <a:ext cx="82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rPr>
                <a:t>∅</a:t>
              </a:r>
              <a:endPara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endParaRPr>
            </a:p>
          </p:txBody>
        </p:sp>
      </p:grpSp>
      <p:sp>
        <p:nvSpPr>
          <p:cNvPr id="152" name="圆角矩形 151"/>
          <p:cNvSpPr/>
          <p:nvPr/>
        </p:nvSpPr>
        <p:spPr>
          <a:xfrm>
            <a:off x="7110730" y="371792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8703310" y="2639060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9674860" y="263842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10636885" y="228917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10636885" y="297878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10636250" y="2639060"/>
            <a:ext cx="852170" cy="236220"/>
          </a:xfrm>
          <a:prstGeom prst="roundRect">
            <a:avLst>
              <a:gd name="adj" fmla="val 9946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9674225" y="2978785"/>
            <a:ext cx="852170" cy="236220"/>
          </a:xfrm>
          <a:prstGeom prst="roundRect">
            <a:avLst>
              <a:gd name="adj" fmla="val 9946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829165" y="2987675"/>
            <a:ext cx="5226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∅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1" name="圆角矩形 160"/>
          <p:cNvSpPr/>
          <p:nvPr/>
        </p:nvSpPr>
        <p:spPr>
          <a:xfrm>
            <a:off x="8702675" y="2978785"/>
            <a:ext cx="852170" cy="236220"/>
          </a:xfrm>
          <a:prstGeom prst="roundRect">
            <a:avLst>
              <a:gd name="adj" fmla="val 9946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8857615" y="2987675"/>
            <a:ext cx="5226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∅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8645525" y="2283460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0x3FC9BA20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8645525" y="263842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0x1E3C6C20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9622155" y="263842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0x4E193E58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10588625" y="229171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0x9C44AB21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10595610" y="297878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0xAD44AC32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10636885" y="372173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9675495" y="372173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10636885" y="4076065"/>
            <a:ext cx="852170" cy="254000"/>
            <a:chOff x="14984" y="5841"/>
            <a:chExt cx="1342" cy="400"/>
          </a:xfrm>
        </p:grpSpPr>
        <p:sp>
          <p:nvSpPr>
            <p:cNvPr id="175" name="圆角矩形 174"/>
            <p:cNvSpPr/>
            <p:nvPr/>
          </p:nvSpPr>
          <p:spPr>
            <a:xfrm>
              <a:off x="14984" y="5841"/>
              <a:ext cx="1342" cy="372"/>
            </a:xfrm>
            <a:prstGeom prst="roundRect">
              <a:avLst>
                <a:gd name="adj" fmla="val 9946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15228" y="5855"/>
              <a:ext cx="82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rPr>
                <a:t>∅</a:t>
              </a:r>
              <a:endPara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8704580" y="4076065"/>
            <a:ext cx="852170" cy="254000"/>
            <a:chOff x="14984" y="5841"/>
            <a:chExt cx="1342" cy="400"/>
          </a:xfrm>
        </p:grpSpPr>
        <p:sp>
          <p:nvSpPr>
            <p:cNvPr id="178" name="圆角矩形 177"/>
            <p:cNvSpPr/>
            <p:nvPr/>
          </p:nvSpPr>
          <p:spPr>
            <a:xfrm>
              <a:off x="14984" y="5841"/>
              <a:ext cx="1342" cy="372"/>
            </a:xfrm>
            <a:prstGeom prst="roundRect">
              <a:avLst>
                <a:gd name="adj" fmla="val 9946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15228" y="5855"/>
              <a:ext cx="82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rPr>
                <a:t>∅</a:t>
              </a:r>
              <a:endPara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9675495" y="4450715"/>
            <a:ext cx="852170" cy="254000"/>
            <a:chOff x="14984" y="5841"/>
            <a:chExt cx="1342" cy="400"/>
          </a:xfrm>
        </p:grpSpPr>
        <p:sp>
          <p:nvSpPr>
            <p:cNvPr id="181" name="圆角矩形 180"/>
            <p:cNvSpPr/>
            <p:nvPr/>
          </p:nvSpPr>
          <p:spPr>
            <a:xfrm>
              <a:off x="14984" y="5841"/>
              <a:ext cx="1342" cy="372"/>
            </a:xfrm>
            <a:prstGeom prst="roundRect">
              <a:avLst>
                <a:gd name="adj" fmla="val 9946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15228" y="5855"/>
              <a:ext cx="82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rPr>
                <a:t>∅</a:t>
              </a:r>
              <a:endPara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endParaRPr>
            </a:p>
          </p:txBody>
        </p:sp>
      </p:grpSp>
      <p:sp>
        <p:nvSpPr>
          <p:cNvPr id="183" name="圆角矩形 182"/>
          <p:cNvSpPr/>
          <p:nvPr/>
        </p:nvSpPr>
        <p:spPr>
          <a:xfrm>
            <a:off x="9675495" y="407606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0637520" y="445071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8705215" y="445071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0588625" y="371284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0x3FC9BA20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9629140" y="372173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0x1E3C6C20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9622155" y="406717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0x4E193E58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10588625" y="444182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0x9C44AB21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8662670" y="444182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0xAD44AC32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92" name="左箭头 191"/>
          <p:cNvSpPr/>
          <p:nvPr/>
        </p:nvSpPr>
        <p:spPr>
          <a:xfrm>
            <a:off x="8014335" y="3984625"/>
            <a:ext cx="648970" cy="413385"/>
          </a:xfrm>
          <a:prstGeom prst="leftArrow">
            <a:avLst/>
          </a:prstGeom>
          <a:solidFill>
            <a:srgbClr val="E5F2F5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4" name="圆角矩形 193"/>
          <p:cNvSpPr/>
          <p:nvPr/>
        </p:nvSpPr>
        <p:spPr>
          <a:xfrm>
            <a:off x="7110730" y="407606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7110730" y="4450715"/>
            <a:ext cx="851535" cy="236220"/>
          </a:xfrm>
          <a:prstGeom prst="roundRect">
            <a:avLst>
              <a:gd name="adj" fmla="val 9946"/>
            </a:avLst>
          </a:prstGeom>
          <a:solidFill>
            <a:srgbClr val="C7E5EB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7060565" y="3717290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0x1E3C6C20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7060565" y="407606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0x4E193E58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7060565" y="4459605"/>
            <a:ext cx="966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000" b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0x9C44AB21</a:t>
            </a:r>
            <a:endParaRPr lang="en-US" altLang="zh-CN" sz="1000" b="1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99" name="左箭头 198"/>
          <p:cNvSpPr/>
          <p:nvPr/>
        </p:nvSpPr>
        <p:spPr>
          <a:xfrm>
            <a:off x="6395085" y="3954145"/>
            <a:ext cx="648970" cy="413385"/>
          </a:xfrm>
          <a:prstGeom prst="leftArrow">
            <a:avLst/>
          </a:prstGeom>
          <a:solidFill>
            <a:srgbClr val="E5F2F5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1" name="矩形: 圆角 38"/>
          <p:cNvSpPr/>
          <p:nvPr>
            <p:custDataLst>
              <p:tags r:id="rId18"/>
            </p:custDataLst>
          </p:nvPr>
        </p:nvSpPr>
        <p:spPr>
          <a:xfrm>
            <a:off x="151130" y="1447800"/>
            <a:ext cx="4057015" cy="42037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Motivation Prior C[i] nnz Count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矩形: 圆角 4"/>
          <p:cNvSpPr/>
          <p:nvPr>
            <p:custDataLst>
              <p:tags r:id="rId19"/>
            </p:custDataLst>
          </p:nvPr>
        </p:nvSpPr>
        <p:spPr>
          <a:xfrm>
            <a:off x="7232015" y="785495"/>
            <a:ext cx="2704465" cy="564515"/>
          </a:xfrm>
          <a:prstGeom prst="roundRect">
            <a:avLst>
              <a:gd name="adj" fmla="val 2900"/>
            </a:avLst>
          </a:prstGeom>
          <a:noFill/>
          <a:ln w="41275" cap="flat" cmpd="sng" algn="ctr">
            <a:solidFill>
              <a:srgbClr val="0D77C3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207" name="圆角矩形 206"/>
          <p:cNvSpPr/>
          <p:nvPr/>
        </p:nvSpPr>
        <p:spPr>
          <a:xfrm>
            <a:off x="339090" y="2174875"/>
            <a:ext cx="318135" cy="12725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文本框 208"/>
              <p:cNvSpPr txBox="1"/>
              <p:nvPr/>
            </p:nvSpPr>
            <p:spPr>
              <a:xfrm>
                <a:off x="207010" y="1891665"/>
                <a:ext cx="534670" cy="36639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𝑨</m:t>
                      </m:r>
                      <m:r>
                        <a:rPr lang="en-US" altLang="zh-CN" sz="1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1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𝒊</m:t>
                      </m:r>
                      <m:r>
                        <a:rPr lang="en-US" altLang="zh-CN" sz="1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, ;]</m:t>
                      </m:r>
                    </m:oMath>
                  </m:oMathPara>
                </a14:m>
                <a:endParaRPr lang="en-US" altLang="zh-CN" sz="1400" b="1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zh-CN" altLang="en-US" sz="1400" b="1"/>
              </a:p>
            </p:txBody>
          </p:sp>
        </mc:Choice>
        <mc:Fallback>
          <p:sp>
            <p:nvSpPr>
              <p:cNvPr id="209" name="文本框 2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10" y="1891665"/>
                <a:ext cx="534670" cy="366395"/>
              </a:xfrm>
              <a:prstGeom prst="rect">
                <a:avLst/>
              </a:prstGeom>
              <a:blipFill rotWithShape="1">
                <a:blip r:embed="rId20"/>
                <a:stretch>
                  <a:fillRect r="-18290" b="-28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4" name="圆角矩形 213"/>
          <p:cNvSpPr/>
          <p:nvPr/>
        </p:nvSpPr>
        <p:spPr>
          <a:xfrm>
            <a:off x="370840" y="224028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370840" y="220472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1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370840" y="2548890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70840" y="2506980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3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18" name="圆角矩形 217"/>
          <p:cNvSpPr/>
          <p:nvPr/>
        </p:nvSpPr>
        <p:spPr>
          <a:xfrm>
            <a:off x="370840" y="285051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370840" y="2814955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6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20" name="圆角矩形 219"/>
          <p:cNvSpPr/>
          <p:nvPr/>
        </p:nvSpPr>
        <p:spPr>
          <a:xfrm>
            <a:off x="370840" y="3155315"/>
            <a:ext cx="254000" cy="196850"/>
          </a:xfrm>
          <a:prstGeom prst="roundRect">
            <a:avLst/>
          </a:prstGeom>
          <a:solidFill>
            <a:schemeClr val="bg1"/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370840" y="3119755"/>
            <a:ext cx="254000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02060"/>
                </a:solidFill>
              </a:rPr>
              <a:t>8</a:t>
            </a:r>
            <a:endParaRPr lang="en-US" altLang="zh-CN" sz="1200" b="1">
              <a:solidFill>
                <a:srgbClr val="002060"/>
              </a:solidFill>
            </a:endParaRPr>
          </a:p>
        </p:txBody>
      </p:sp>
      <p:sp>
        <p:nvSpPr>
          <p:cNvPr id="223" name="右箭头 222"/>
          <p:cNvSpPr/>
          <p:nvPr/>
        </p:nvSpPr>
        <p:spPr>
          <a:xfrm>
            <a:off x="732790" y="2271395"/>
            <a:ext cx="450850" cy="1460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4" name="右箭头 223"/>
          <p:cNvSpPr/>
          <p:nvPr/>
        </p:nvSpPr>
        <p:spPr>
          <a:xfrm>
            <a:off x="732790" y="2580005"/>
            <a:ext cx="450850" cy="1460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5" name="右箭头 224"/>
          <p:cNvSpPr/>
          <p:nvPr/>
        </p:nvSpPr>
        <p:spPr>
          <a:xfrm>
            <a:off x="732790" y="2875280"/>
            <a:ext cx="450850" cy="1460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6" name="右箭头 225"/>
          <p:cNvSpPr/>
          <p:nvPr/>
        </p:nvSpPr>
        <p:spPr>
          <a:xfrm>
            <a:off x="732790" y="3174365"/>
            <a:ext cx="450850" cy="1460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9" name="圆角矩形 228"/>
          <p:cNvSpPr/>
          <p:nvPr/>
        </p:nvSpPr>
        <p:spPr>
          <a:xfrm>
            <a:off x="1247140" y="2205355"/>
            <a:ext cx="2315210" cy="25019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2" name="圆角矩形 231"/>
          <p:cNvSpPr/>
          <p:nvPr/>
        </p:nvSpPr>
        <p:spPr>
          <a:xfrm>
            <a:off x="1247140" y="2525395"/>
            <a:ext cx="2315210" cy="25019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1247140" y="2827655"/>
            <a:ext cx="2315210" cy="25019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4" name="圆角矩形 233"/>
          <p:cNvSpPr/>
          <p:nvPr/>
        </p:nvSpPr>
        <p:spPr>
          <a:xfrm>
            <a:off x="1247140" y="3125470"/>
            <a:ext cx="2315210" cy="25019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文本框 236"/>
              <p:cNvSpPr txBox="1"/>
              <p:nvPr/>
            </p:nvSpPr>
            <p:spPr>
              <a:xfrm>
                <a:off x="3562350" y="2174240"/>
                <a:ext cx="601345" cy="28130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𝑅𝑜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7" name="文本框 2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350" y="2174240"/>
                <a:ext cx="601345" cy="28130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文本框 237"/>
              <p:cNvSpPr txBox="1"/>
              <p:nvPr/>
            </p:nvSpPr>
            <p:spPr>
              <a:xfrm>
                <a:off x="3568700" y="2494280"/>
                <a:ext cx="601345" cy="28130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𝑅𝑜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8" name="文本框 2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700" y="2494280"/>
                <a:ext cx="601345" cy="281305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/>
              <p:cNvSpPr txBox="1"/>
              <p:nvPr/>
            </p:nvSpPr>
            <p:spPr>
              <a:xfrm>
                <a:off x="3562350" y="2796540"/>
                <a:ext cx="601345" cy="28130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𝑅𝑜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9" name="文本框 2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350" y="2796540"/>
                <a:ext cx="601345" cy="28130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本框 239"/>
              <p:cNvSpPr txBox="1"/>
              <p:nvPr/>
            </p:nvSpPr>
            <p:spPr>
              <a:xfrm>
                <a:off x="3568700" y="3106420"/>
                <a:ext cx="601345" cy="28130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𝑅𝑜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40" name="文本框 2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700" y="3106420"/>
                <a:ext cx="601345" cy="281305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3" name="组合 242"/>
          <p:cNvGrpSpPr/>
          <p:nvPr/>
        </p:nvGrpSpPr>
        <p:grpSpPr>
          <a:xfrm>
            <a:off x="1291590" y="2198370"/>
            <a:ext cx="254000" cy="275590"/>
            <a:chOff x="2034" y="3462"/>
            <a:chExt cx="400" cy="434"/>
          </a:xfrm>
        </p:grpSpPr>
        <p:sp>
          <p:nvSpPr>
            <p:cNvPr id="227" name="圆角矩形 226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8" name="文本框 227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0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51" name="组合 250"/>
          <p:cNvGrpSpPr/>
          <p:nvPr/>
        </p:nvGrpSpPr>
        <p:grpSpPr>
          <a:xfrm>
            <a:off x="1710690" y="2193290"/>
            <a:ext cx="254000" cy="275590"/>
            <a:chOff x="2034" y="3462"/>
            <a:chExt cx="400" cy="434"/>
          </a:xfrm>
        </p:grpSpPr>
        <p:sp>
          <p:nvSpPr>
            <p:cNvPr id="252" name="圆角矩形 251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3" name="文本框 252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2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60" name="组合 259"/>
          <p:cNvGrpSpPr/>
          <p:nvPr/>
        </p:nvGrpSpPr>
        <p:grpSpPr>
          <a:xfrm>
            <a:off x="3039745" y="2193290"/>
            <a:ext cx="254000" cy="275590"/>
            <a:chOff x="2034" y="3462"/>
            <a:chExt cx="400" cy="434"/>
          </a:xfrm>
        </p:grpSpPr>
        <p:sp>
          <p:nvSpPr>
            <p:cNvPr id="261" name="圆角矩形 260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2" name="文本框 261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8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1971040" y="2515870"/>
            <a:ext cx="254000" cy="275590"/>
            <a:chOff x="2034" y="3462"/>
            <a:chExt cx="400" cy="434"/>
          </a:xfrm>
        </p:grpSpPr>
        <p:sp>
          <p:nvSpPr>
            <p:cNvPr id="267" name="圆角矩形 266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8" name="文本框 267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3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2417445" y="2515870"/>
            <a:ext cx="254000" cy="276225"/>
            <a:chOff x="2034" y="3462"/>
            <a:chExt cx="400" cy="435"/>
          </a:xfrm>
        </p:grpSpPr>
        <p:sp>
          <p:nvSpPr>
            <p:cNvPr id="270" name="圆角矩形 269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1" name="文本框 270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5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72" name="组合 271"/>
          <p:cNvGrpSpPr/>
          <p:nvPr/>
        </p:nvGrpSpPr>
        <p:grpSpPr>
          <a:xfrm>
            <a:off x="3281045" y="2515870"/>
            <a:ext cx="260350" cy="276225"/>
            <a:chOff x="2154" y="3462"/>
            <a:chExt cx="410" cy="435"/>
          </a:xfrm>
        </p:grpSpPr>
        <p:sp>
          <p:nvSpPr>
            <p:cNvPr id="273" name="圆角矩形 272"/>
            <p:cNvSpPr/>
            <p:nvPr/>
          </p:nvSpPr>
          <p:spPr>
            <a:xfrm>
              <a:off x="215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4" name="文本框 273"/>
            <p:cNvSpPr txBox="1"/>
            <p:nvPr/>
          </p:nvSpPr>
          <p:spPr>
            <a:xfrm>
              <a:off x="216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9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87" name="组合 286"/>
          <p:cNvGrpSpPr/>
          <p:nvPr/>
        </p:nvGrpSpPr>
        <p:grpSpPr>
          <a:xfrm>
            <a:off x="2840990" y="2515870"/>
            <a:ext cx="254000" cy="275590"/>
            <a:chOff x="2034" y="3462"/>
            <a:chExt cx="400" cy="434"/>
          </a:xfrm>
        </p:grpSpPr>
        <p:sp>
          <p:nvSpPr>
            <p:cNvPr id="288" name="圆角矩形 287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9" name="文本框 288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7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90" name="组合 289"/>
          <p:cNvGrpSpPr/>
          <p:nvPr/>
        </p:nvGrpSpPr>
        <p:grpSpPr>
          <a:xfrm>
            <a:off x="1291590" y="2820035"/>
            <a:ext cx="254000" cy="275590"/>
            <a:chOff x="2034" y="3462"/>
            <a:chExt cx="400" cy="434"/>
          </a:xfrm>
        </p:grpSpPr>
        <p:sp>
          <p:nvSpPr>
            <p:cNvPr id="291" name="圆角矩形 290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2" name="文本框 291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0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2161540" y="2814955"/>
            <a:ext cx="254000" cy="275590"/>
            <a:chOff x="2034" y="3462"/>
            <a:chExt cx="400" cy="434"/>
          </a:xfrm>
        </p:grpSpPr>
        <p:sp>
          <p:nvSpPr>
            <p:cNvPr id="294" name="圆角矩形 293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4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296" name="组合 295"/>
          <p:cNvGrpSpPr/>
          <p:nvPr/>
        </p:nvGrpSpPr>
        <p:grpSpPr>
          <a:xfrm>
            <a:off x="3039745" y="2814955"/>
            <a:ext cx="254000" cy="275590"/>
            <a:chOff x="2034" y="3462"/>
            <a:chExt cx="400" cy="434"/>
          </a:xfrm>
        </p:grpSpPr>
        <p:sp>
          <p:nvSpPr>
            <p:cNvPr id="297" name="圆角矩形 296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8" name="文本框 297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8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1717040" y="3119120"/>
            <a:ext cx="254000" cy="275590"/>
            <a:chOff x="2034" y="3462"/>
            <a:chExt cx="400" cy="434"/>
          </a:xfrm>
        </p:grpSpPr>
        <p:sp>
          <p:nvSpPr>
            <p:cNvPr id="303" name="圆角矩形 302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4" name="文本框 303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2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2155190" y="3114040"/>
            <a:ext cx="254000" cy="275590"/>
            <a:chOff x="2034" y="3462"/>
            <a:chExt cx="400" cy="434"/>
          </a:xfrm>
        </p:grpSpPr>
        <p:sp>
          <p:nvSpPr>
            <p:cNvPr id="306" name="圆角矩形 305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7" name="文本框 306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4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11" name="组合 310"/>
          <p:cNvGrpSpPr/>
          <p:nvPr/>
        </p:nvGrpSpPr>
        <p:grpSpPr>
          <a:xfrm>
            <a:off x="3281045" y="3119755"/>
            <a:ext cx="254000" cy="276225"/>
            <a:chOff x="2304" y="3471"/>
            <a:chExt cx="400" cy="435"/>
          </a:xfrm>
        </p:grpSpPr>
        <p:sp>
          <p:nvSpPr>
            <p:cNvPr id="312" name="圆角矩形 311"/>
            <p:cNvSpPr/>
            <p:nvPr/>
          </p:nvSpPr>
          <p:spPr>
            <a:xfrm>
              <a:off x="230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3" name="文本框 312"/>
            <p:cNvSpPr txBox="1"/>
            <p:nvPr/>
          </p:nvSpPr>
          <p:spPr>
            <a:xfrm>
              <a:off x="2304" y="3471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9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sp>
        <p:nvSpPr>
          <p:cNvPr id="326" name="文本框 325"/>
          <p:cNvSpPr txBox="1"/>
          <p:nvPr/>
        </p:nvSpPr>
        <p:spPr>
          <a:xfrm>
            <a:off x="1783080" y="1898015"/>
            <a:ext cx="13119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Cambria Math" panose="02040503050406030204" charset="0"/>
                <a:cs typeface="Cambria Math" panose="02040503050406030204" charset="0"/>
              </a:rPr>
              <a:t>A(operand)</a:t>
            </a:r>
            <a:endParaRPr lang="en-US" altLang="zh-CN" sz="1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28" name="下箭头 327"/>
          <p:cNvSpPr/>
          <p:nvPr/>
        </p:nvSpPr>
        <p:spPr>
          <a:xfrm>
            <a:off x="1952625" y="3430270"/>
            <a:ext cx="853440" cy="228600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686435" y="4291330"/>
            <a:ext cx="3406140" cy="25019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330" name="组合 329"/>
          <p:cNvGrpSpPr/>
          <p:nvPr/>
        </p:nvGrpSpPr>
        <p:grpSpPr>
          <a:xfrm>
            <a:off x="727710" y="3698875"/>
            <a:ext cx="254000" cy="275590"/>
            <a:chOff x="2034" y="3462"/>
            <a:chExt cx="400" cy="434"/>
          </a:xfrm>
        </p:grpSpPr>
        <p:sp>
          <p:nvSpPr>
            <p:cNvPr id="331" name="圆角矩形 330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2" name="文本框 331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0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33" name="组合 332"/>
          <p:cNvGrpSpPr/>
          <p:nvPr/>
        </p:nvGrpSpPr>
        <p:grpSpPr>
          <a:xfrm>
            <a:off x="723265" y="3968750"/>
            <a:ext cx="254000" cy="276225"/>
            <a:chOff x="2034" y="3455"/>
            <a:chExt cx="400" cy="435"/>
          </a:xfrm>
        </p:grpSpPr>
        <p:sp>
          <p:nvSpPr>
            <p:cNvPr id="334" name="圆角矩形 333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2034" y="3455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0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39" name="组合 338"/>
          <p:cNvGrpSpPr/>
          <p:nvPr/>
        </p:nvGrpSpPr>
        <p:grpSpPr>
          <a:xfrm>
            <a:off x="1432560" y="3975100"/>
            <a:ext cx="254000" cy="275590"/>
            <a:chOff x="2034" y="3462"/>
            <a:chExt cx="400" cy="434"/>
          </a:xfrm>
        </p:grpSpPr>
        <p:sp>
          <p:nvSpPr>
            <p:cNvPr id="340" name="圆角矩形 339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1" name="文本框 340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2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1432560" y="3694430"/>
            <a:ext cx="254000" cy="275590"/>
            <a:chOff x="2034" y="3462"/>
            <a:chExt cx="400" cy="434"/>
          </a:xfrm>
        </p:grpSpPr>
        <p:sp>
          <p:nvSpPr>
            <p:cNvPr id="343" name="圆角矩形 342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4" name="文本框 343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2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45" name="组合 344"/>
          <p:cNvGrpSpPr/>
          <p:nvPr/>
        </p:nvGrpSpPr>
        <p:grpSpPr>
          <a:xfrm>
            <a:off x="1781175" y="3973195"/>
            <a:ext cx="254000" cy="275590"/>
            <a:chOff x="2034" y="3462"/>
            <a:chExt cx="400" cy="434"/>
          </a:xfrm>
        </p:grpSpPr>
        <p:sp>
          <p:nvSpPr>
            <p:cNvPr id="346" name="圆角矩形 345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7" name="文本框 346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3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48" name="组合 347"/>
          <p:cNvGrpSpPr/>
          <p:nvPr/>
        </p:nvGrpSpPr>
        <p:grpSpPr>
          <a:xfrm>
            <a:off x="2118995" y="3973830"/>
            <a:ext cx="254000" cy="275590"/>
            <a:chOff x="2034" y="3462"/>
            <a:chExt cx="400" cy="434"/>
          </a:xfrm>
        </p:grpSpPr>
        <p:sp>
          <p:nvSpPr>
            <p:cNvPr id="349" name="圆角矩形 348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0" name="文本框 349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4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51" name="组合 350"/>
          <p:cNvGrpSpPr/>
          <p:nvPr/>
        </p:nvGrpSpPr>
        <p:grpSpPr>
          <a:xfrm>
            <a:off x="2118995" y="3693160"/>
            <a:ext cx="254000" cy="275590"/>
            <a:chOff x="2034" y="3462"/>
            <a:chExt cx="400" cy="434"/>
          </a:xfrm>
        </p:grpSpPr>
        <p:sp>
          <p:nvSpPr>
            <p:cNvPr id="352" name="圆角矩形 351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3" name="文本框 352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4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54" name="组合 353"/>
          <p:cNvGrpSpPr/>
          <p:nvPr/>
        </p:nvGrpSpPr>
        <p:grpSpPr>
          <a:xfrm>
            <a:off x="2459990" y="3971290"/>
            <a:ext cx="254000" cy="275590"/>
            <a:chOff x="2034" y="3462"/>
            <a:chExt cx="400" cy="434"/>
          </a:xfrm>
        </p:grpSpPr>
        <p:sp>
          <p:nvSpPr>
            <p:cNvPr id="355" name="圆角矩形 354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5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63" name="组合 362"/>
          <p:cNvGrpSpPr/>
          <p:nvPr/>
        </p:nvGrpSpPr>
        <p:grpSpPr>
          <a:xfrm>
            <a:off x="3117850" y="3965575"/>
            <a:ext cx="254000" cy="275590"/>
            <a:chOff x="2034" y="3462"/>
            <a:chExt cx="400" cy="434"/>
          </a:xfrm>
        </p:grpSpPr>
        <p:sp>
          <p:nvSpPr>
            <p:cNvPr id="364" name="圆角矩形 363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5" name="文本框 364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7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66" name="组合 365"/>
          <p:cNvGrpSpPr/>
          <p:nvPr/>
        </p:nvGrpSpPr>
        <p:grpSpPr>
          <a:xfrm>
            <a:off x="3449955" y="3963035"/>
            <a:ext cx="254000" cy="275590"/>
            <a:chOff x="2034" y="3462"/>
            <a:chExt cx="400" cy="434"/>
          </a:xfrm>
        </p:grpSpPr>
        <p:sp>
          <p:nvSpPr>
            <p:cNvPr id="367" name="圆角矩形 366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8" name="文本框 367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8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69" name="组合 368"/>
          <p:cNvGrpSpPr/>
          <p:nvPr/>
        </p:nvGrpSpPr>
        <p:grpSpPr>
          <a:xfrm>
            <a:off x="3449955" y="3682365"/>
            <a:ext cx="254000" cy="275590"/>
            <a:chOff x="2034" y="3462"/>
            <a:chExt cx="400" cy="434"/>
          </a:xfrm>
        </p:grpSpPr>
        <p:sp>
          <p:nvSpPr>
            <p:cNvPr id="370" name="圆角矩形 369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1" name="文本框 370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8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72" name="组合 371"/>
          <p:cNvGrpSpPr/>
          <p:nvPr/>
        </p:nvGrpSpPr>
        <p:grpSpPr>
          <a:xfrm>
            <a:off x="3783965" y="3963035"/>
            <a:ext cx="254000" cy="275590"/>
            <a:chOff x="2034" y="3462"/>
            <a:chExt cx="400" cy="434"/>
          </a:xfrm>
        </p:grpSpPr>
        <p:sp>
          <p:nvSpPr>
            <p:cNvPr id="373" name="圆角矩形 372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4" name="文本框 373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9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75" name="组合 374"/>
          <p:cNvGrpSpPr/>
          <p:nvPr/>
        </p:nvGrpSpPr>
        <p:grpSpPr>
          <a:xfrm>
            <a:off x="3783965" y="3677920"/>
            <a:ext cx="254000" cy="275590"/>
            <a:chOff x="2034" y="3462"/>
            <a:chExt cx="400" cy="434"/>
          </a:xfrm>
        </p:grpSpPr>
        <p:sp>
          <p:nvSpPr>
            <p:cNvPr id="376" name="圆角矩形 375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7" name="文本框 376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9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89" name="组合 388"/>
          <p:cNvGrpSpPr/>
          <p:nvPr/>
        </p:nvGrpSpPr>
        <p:grpSpPr>
          <a:xfrm>
            <a:off x="723265" y="4278630"/>
            <a:ext cx="254000" cy="276225"/>
            <a:chOff x="2034" y="3455"/>
            <a:chExt cx="400" cy="435"/>
          </a:xfrm>
        </p:grpSpPr>
        <p:sp>
          <p:nvSpPr>
            <p:cNvPr id="390" name="圆角矩形 389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1" name="文本框 390"/>
            <p:cNvSpPr txBox="1"/>
            <p:nvPr/>
          </p:nvSpPr>
          <p:spPr>
            <a:xfrm>
              <a:off x="2034" y="3455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0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95" name="组合 394"/>
          <p:cNvGrpSpPr/>
          <p:nvPr/>
        </p:nvGrpSpPr>
        <p:grpSpPr>
          <a:xfrm>
            <a:off x="1432560" y="4284980"/>
            <a:ext cx="254000" cy="275590"/>
            <a:chOff x="2034" y="3462"/>
            <a:chExt cx="400" cy="434"/>
          </a:xfrm>
        </p:grpSpPr>
        <p:sp>
          <p:nvSpPr>
            <p:cNvPr id="396" name="圆角矩形 395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7" name="文本框 396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2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1781175" y="4283075"/>
            <a:ext cx="254000" cy="275590"/>
            <a:chOff x="2034" y="3462"/>
            <a:chExt cx="400" cy="434"/>
          </a:xfrm>
        </p:grpSpPr>
        <p:sp>
          <p:nvSpPr>
            <p:cNvPr id="399" name="圆角矩形 398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00" name="文本框 399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3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401" name="组合 400"/>
          <p:cNvGrpSpPr/>
          <p:nvPr/>
        </p:nvGrpSpPr>
        <p:grpSpPr>
          <a:xfrm>
            <a:off x="2118995" y="4283710"/>
            <a:ext cx="254000" cy="275590"/>
            <a:chOff x="2034" y="3462"/>
            <a:chExt cx="400" cy="434"/>
          </a:xfrm>
        </p:grpSpPr>
        <p:sp>
          <p:nvSpPr>
            <p:cNvPr id="402" name="圆角矩形 401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03" name="文本框 402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4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404" name="组合 403"/>
          <p:cNvGrpSpPr/>
          <p:nvPr/>
        </p:nvGrpSpPr>
        <p:grpSpPr>
          <a:xfrm>
            <a:off x="2459990" y="4281170"/>
            <a:ext cx="254000" cy="275590"/>
            <a:chOff x="2034" y="3462"/>
            <a:chExt cx="400" cy="434"/>
          </a:xfrm>
        </p:grpSpPr>
        <p:sp>
          <p:nvSpPr>
            <p:cNvPr id="405" name="圆角矩形 404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06" name="文本框 405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5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410" name="组合 409"/>
          <p:cNvGrpSpPr/>
          <p:nvPr/>
        </p:nvGrpSpPr>
        <p:grpSpPr>
          <a:xfrm>
            <a:off x="3117850" y="4284345"/>
            <a:ext cx="254000" cy="275590"/>
            <a:chOff x="2034" y="3462"/>
            <a:chExt cx="400" cy="434"/>
          </a:xfrm>
        </p:grpSpPr>
        <p:sp>
          <p:nvSpPr>
            <p:cNvPr id="411" name="圆角矩形 410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2" name="文本框 411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7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413" name="组合 412"/>
          <p:cNvGrpSpPr/>
          <p:nvPr/>
        </p:nvGrpSpPr>
        <p:grpSpPr>
          <a:xfrm>
            <a:off x="3449955" y="4281805"/>
            <a:ext cx="254000" cy="275590"/>
            <a:chOff x="2034" y="3462"/>
            <a:chExt cx="400" cy="434"/>
          </a:xfrm>
        </p:grpSpPr>
        <p:sp>
          <p:nvSpPr>
            <p:cNvPr id="414" name="圆角矩形 413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5" name="文本框 414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8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416" name="组合 415"/>
          <p:cNvGrpSpPr/>
          <p:nvPr/>
        </p:nvGrpSpPr>
        <p:grpSpPr>
          <a:xfrm>
            <a:off x="3783965" y="4281805"/>
            <a:ext cx="254000" cy="275590"/>
            <a:chOff x="2034" y="3462"/>
            <a:chExt cx="400" cy="434"/>
          </a:xfrm>
        </p:grpSpPr>
        <p:sp>
          <p:nvSpPr>
            <p:cNvPr id="417" name="圆角矩形 416"/>
            <p:cNvSpPr/>
            <p:nvPr/>
          </p:nvSpPr>
          <p:spPr>
            <a:xfrm>
              <a:off x="2034" y="3518"/>
              <a:ext cx="400" cy="310"/>
            </a:xfrm>
            <a:prstGeom prst="roundRect">
              <a:avLst/>
            </a:prstGeom>
            <a:solidFill>
              <a:schemeClr val="bg1"/>
            </a:solidFill>
            <a:ln w="9525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16200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8" name="文本框 417"/>
            <p:cNvSpPr txBox="1"/>
            <p:nvPr/>
          </p:nvSpPr>
          <p:spPr>
            <a:xfrm>
              <a:off x="2034" y="3462"/>
              <a:ext cx="400" cy="4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rgbClr val="002060"/>
                  </a:solidFill>
                </a:rPr>
                <a:t>9</a:t>
              </a:r>
              <a:endParaRPr lang="en-US" altLang="zh-CN" sz="1200" b="1">
                <a:solidFill>
                  <a:srgbClr val="002060"/>
                </a:solidFill>
              </a:endParaRPr>
            </a:p>
          </p:txBody>
        </p:sp>
      </p:grpSp>
      <p:sp>
        <p:nvSpPr>
          <p:cNvPr id="419" name="直角上箭头 418"/>
          <p:cNvSpPr/>
          <p:nvPr/>
        </p:nvSpPr>
        <p:spPr>
          <a:xfrm rot="5400000">
            <a:off x="384810" y="4184650"/>
            <a:ext cx="259715" cy="285750"/>
          </a:xfrm>
          <a:prstGeom prst="bentUp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20" name="文本框 419"/>
          <p:cNvSpPr txBox="1"/>
          <p:nvPr/>
        </p:nvSpPr>
        <p:spPr>
          <a:xfrm>
            <a:off x="-17780" y="3826510"/>
            <a:ext cx="893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>
                <a:latin typeface="Cambria Math" panose="02040503050406030204" charset="0"/>
                <a:cs typeface="Cambria Math" panose="02040503050406030204" charset="0"/>
              </a:rPr>
              <a:t>Distinct</a:t>
            </a:r>
            <a:endParaRPr lang="en-US" altLang="zh-CN" sz="1000" b="1">
              <a:latin typeface="Cambria Math" panose="02040503050406030204" charset="0"/>
              <a:cs typeface="Cambria Math" panose="02040503050406030204" charset="0"/>
            </a:endParaRPr>
          </a:p>
          <a:p>
            <a:pPr algn="ctr"/>
            <a:r>
              <a:rPr lang="en-US" altLang="zh-CN" sz="1000" b="1">
                <a:latin typeface="Cambria Math" panose="02040503050406030204" charset="0"/>
                <a:cs typeface="Cambria Math" panose="02040503050406030204" charset="0"/>
              </a:rPr>
              <a:t>Count</a:t>
            </a:r>
            <a:endParaRPr lang="en-US" altLang="zh-CN" sz="10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421" name="圆角矩形 420"/>
          <p:cNvSpPr/>
          <p:nvPr/>
        </p:nvSpPr>
        <p:spPr>
          <a:xfrm>
            <a:off x="288290" y="4685030"/>
            <a:ext cx="3082925" cy="83756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6" name="文本框 425"/>
              <p:cNvSpPr txBox="1"/>
              <p:nvPr/>
            </p:nvSpPr>
            <p:spPr>
              <a:xfrm>
                <a:off x="215836" y="4735449"/>
                <a:ext cx="3226435" cy="7086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𝒏𝒏𝒛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𝑪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𝒊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,;])=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limLoc m:val="subSup"/>
                              <m:supHide m:val="on"/>
                              <m:ctrlPr>
                                <a:rPr lang="en-US" altLang="zh-CN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</m:sub>
                            <m:sup/>
                            <m:e>
                              <m:r>
                                <a:rPr lang="en-US" altLang="zh-CN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ea typeface="Ms.Luce" panose="00000400000000000000" charset="0"/>
                                  <a:cs typeface="Cambria Math" panose="02040503050406030204" charset="0"/>
                                </a:rPr>
                                <m:t>{</m:t>
                              </m:r>
                            </m:e>
                          </m:nary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𝒑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 | 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𝑨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[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𝒑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]≠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𝟎</m:t>
                          </m:r>
                          <m:r>
                            <a:rPr lang="en-US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altLang="zh-CN" sz="1400" b="1" i="1">
                  <a:solidFill>
                    <a:srgbClr val="C0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𝒘𝒉𝒆𝒓𝒆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  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∈{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𝑨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𝒊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]≠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altLang="zh-CN" sz="1400" b="1" i="1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</a:rPr>
                        <m:t>}</m:t>
                      </m:r>
                    </m:oMath>
                  </m:oMathPara>
                </a14:m>
                <a:endParaRPr lang="en-US" altLang="zh-CN" sz="1400" b="1" i="1">
                  <a:solidFill>
                    <a:srgbClr val="C00000"/>
                  </a:solidFill>
                  <a:latin typeface="Cambria Math" panose="02040503050406030204" charset="0"/>
                  <a:ea typeface="Ms.Luce" panose="00000400000000000000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26" name="文本框 4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36" y="4735449"/>
                <a:ext cx="3226435" cy="708660"/>
              </a:xfrm>
              <a:prstGeom prst="rect">
                <a:avLst/>
              </a:prstGeom>
              <a:blipFill rotWithShape="1">
                <a:blip r:embed="rId25"/>
                <a:stretch>
                  <a:fillRect l="-18" t="-36" r="18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8" name="直角上箭头 427"/>
          <p:cNvSpPr/>
          <p:nvPr/>
        </p:nvSpPr>
        <p:spPr>
          <a:xfrm rot="16200000" flipH="1">
            <a:off x="3348990" y="4704715"/>
            <a:ext cx="626745" cy="439420"/>
          </a:xfrm>
          <a:prstGeom prst="bentUp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32" name="圆角矩形 431"/>
          <p:cNvSpPr/>
          <p:nvPr/>
        </p:nvSpPr>
        <p:spPr>
          <a:xfrm>
            <a:off x="288290" y="5662295"/>
            <a:ext cx="3804285" cy="8401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33" name="文本框 432"/>
          <p:cNvSpPr txBox="1"/>
          <p:nvPr/>
        </p:nvSpPr>
        <p:spPr>
          <a:xfrm>
            <a:off x="313690" y="5700395"/>
            <a:ext cx="4154805" cy="723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500" b="1">
                <a:solidFill>
                  <a:schemeClr val="tx1"/>
                </a:solidFill>
              </a:rPr>
              <a:t>- Enumerates </a:t>
            </a:r>
            <a:r>
              <a:rPr lang="en-US" altLang="zh-CN" sz="1500" b="1">
                <a:solidFill>
                  <a:srgbClr val="C00000"/>
                </a:solidFill>
              </a:rPr>
              <a:t>all intermediate products</a:t>
            </a:r>
            <a:endParaRPr lang="en-US" altLang="zh-CN" sz="1500" b="1">
              <a:solidFill>
                <a:srgbClr val="C00000"/>
              </a:solidFill>
            </a:endParaRPr>
          </a:p>
          <a:p>
            <a:pPr algn="l"/>
            <a:r>
              <a:rPr lang="en-US" altLang="zh-CN" sz="1500" b="1">
                <a:solidFill>
                  <a:schemeClr val="tx1"/>
                </a:solidFill>
              </a:rPr>
              <a:t>- Duplicates the hash computation</a:t>
            </a:r>
            <a:endParaRPr lang="en-US" altLang="zh-CN" sz="1500" b="1">
              <a:solidFill>
                <a:schemeClr val="tx1"/>
              </a:solidFill>
            </a:endParaRPr>
          </a:p>
          <a:p>
            <a:pPr algn="l"/>
            <a:r>
              <a:rPr lang="en-US" altLang="zh-CN" sz="1500" b="1">
                <a:solidFill>
                  <a:schemeClr val="tx1"/>
                </a:solidFill>
              </a:rPr>
              <a:t>- Time Complexity: </a:t>
            </a:r>
            <a:r>
              <a:rPr lang="en-US" altLang="zh-CN" sz="1500" b="1">
                <a:solidFill>
                  <a:srgbClr val="C00000"/>
                </a:solidFill>
              </a:rPr>
              <a:t>O(flops)</a:t>
            </a:r>
            <a:endParaRPr lang="en-US" altLang="zh-CN" sz="1500" b="1">
              <a:solidFill>
                <a:srgbClr val="C00000"/>
              </a:solidFill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4468495" y="3499485"/>
            <a:ext cx="20897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i="1">
                <a:latin typeface="Cambria Math" panose="02040503050406030204" charset="0"/>
                <a:cs typeface="Cambria Math" panose="02040503050406030204" charset="0"/>
              </a:rPr>
              <a:t>Expand 1.5x to avoid overflow</a:t>
            </a:r>
            <a:endParaRPr lang="en-US" altLang="zh-CN" sz="1100" i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437" name="右箭头 436"/>
          <p:cNvSpPr/>
          <p:nvPr/>
        </p:nvSpPr>
        <p:spPr>
          <a:xfrm>
            <a:off x="4246245" y="3397885"/>
            <a:ext cx="190500" cy="12001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975" y="30480"/>
            <a:ext cx="11416030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Design 4: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Tail-Balanced workload partitioning for AA</a:t>
            </a:r>
            <a:r>
              <a:rPr kumimoji="1" lang="en-US" altLang="zh-CN" sz="3200" b="1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endParaRPr kumimoji="1" lang="en-US" altLang="zh-CN" sz="3200" b="1" baseline="30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430635" y="0"/>
            <a:ext cx="688975" cy="617220"/>
          </a:xfrm>
          <a:prstGeom prst="rect">
            <a:avLst/>
          </a:prstGeom>
        </p:spPr>
      </p:pic>
      <p:sp>
        <p:nvSpPr>
          <p:cNvPr id="12" name="矩形: 圆角 4"/>
          <p:cNvSpPr/>
          <p:nvPr>
            <p:custDataLst>
              <p:tags r:id="rId4"/>
            </p:custDataLst>
          </p:nvPr>
        </p:nvSpPr>
        <p:spPr>
          <a:xfrm>
            <a:off x="241935" y="1673225"/>
            <a:ext cx="4942205" cy="472884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39" name="矩形: 圆角 38"/>
          <p:cNvSpPr/>
          <p:nvPr>
            <p:custDataLst>
              <p:tags r:id="rId5"/>
            </p:custDataLst>
          </p:nvPr>
        </p:nvSpPr>
        <p:spPr>
          <a:xfrm>
            <a:off x="241935" y="1294130"/>
            <a:ext cx="4942205" cy="466725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Challenge: Upper-Triangle is Not Enough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6"/>
            </p:custDataLst>
          </p:nvPr>
        </p:nvSpPr>
        <p:spPr>
          <a:xfrm>
            <a:off x="5424805" y="1673225"/>
            <a:ext cx="6490970" cy="475043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8515" y="305244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50365" y="3254375"/>
            <a:ext cx="407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✖</a:t>
            </a:r>
            <a:endParaRPr lang="zh-CN" altLang="en-US" sz="2400"/>
          </a:p>
        </p:txBody>
      </p:sp>
      <p:sp>
        <p:nvSpPr>
          <p:cNvPr id="49" name="等于号 48"/>
          <p:cNvSpPr/>
          <p:nvPr/>
        </p:nvSpPr>
        <p:spPr>
          <a:xfrm>
            <a:off x="3036570" y="3340735"/>
            <a:ext cx="311150" cy="273050"/>
          </a:xfrm>
          <a:prstGeom prst="mathEqual">
            <a:avLst/>
          </a:prstGeom>
          <a:solidFill>
            <a:schemeClr val="tx1"/>
          </a:solidFill>
          <a:ln w="9525" algn="ctr">
            <a:noFill/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86105" y="2733675"/>
            <a:ext cx="35433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1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824355" y="2733675"/>
            <a:ext cx="4191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1500" b="1" baseline="30000">
                <a:latin typeface="微软雅黑" panose="020B0503020204020204" charset="-122"/>
                <a:ea typeface="微软雅黑" panose="020B0503020204020204" charset="-122"/>
              </a:rPr>
              <a:t>T</a:t>
            </a:r>
            <a:endParaRPr lang="en-US" altLang="zh-CN" sz="1500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105535" y="305371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393825" y="3052445"/>
            <a:ext cx="288290" cy="2908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18515" y="334327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105535" y="334454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393825" y="3343275"/>
            <a:ext cx="288290" cy="2908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18515" y="3627120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105535" y="3628390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393825" y="3627120"/>
            <a:ext cx="288290" cy="2908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2105025" y="305371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2392045" y="305498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680335" y="3053715"/>
            <a:ext cx="288290" cy="2908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105025" y="334454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392045" y="3345815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680335" y="3344545"/>
            <a:ext cx="288290" cy="2908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2105025" y="3628390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392045" y="3629660"/>
            <a:ext cx="288290" cy="2882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2680335" y="3628390"/>
            <a:ext cx="288290" cy="2908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0" tIns="0" rIns="0" bIns="0" anchor="ctr" anchorCtr="1"/>
          <a:lstStyle/>
          <a:p>
            <a:pPr lvl="0" algn="r">
              <a:lnSpc>
                <a:spcPct val="10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endParaRPr lang="en-US" altLang="zh-CN" sz="18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3443605" y="3055620"/>
            <a:ext cx="864000" cy="864000"/>
            <a:chOff x="2024" y="5821"/>
            <a:chExt cx="1360" cy="1363"/>
          </a:xfrm>
        </p:grpSpPr>
        <p:sp>
          <p:nvSpPr>
            <p:cNvPr id="109" name="矩形 108"/>
            <p:cNvSpPr/>
            <p:nvPr/>
          </p:nvSpPr>
          <p:spPr>
            <a:xfrm>
              <a:off x="2024" y="5821"/>
              <a:ext cx="454" cy="4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5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2476" y="5823"/>
              <a:ext cx="454" cy="4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2930" y="5821"/>
              <a:ext cx="454" cy="4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14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2024" y="6279"/>
              <a:ext cx="454" cy="4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2476" y="6281"/>
              <a:ext cx="454" cy="4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9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2930" y="6279"/>
              <a:ext cx="454" cy="4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2024" y="6726"/>
              <a:ext cx="454" cy="4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14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6" name="矩形 115"/>
            <p:cNvSpPr/>
            <p:nvPr/>
          </p:nvSpPr>
          <p:spPr>
            <a:xfrm>
              <a:off x="2476" y="6728"/>
              <a:ext cx="454" cy="4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2930" y="6726"/>
              <a:ext cx="454" cy="4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algn="ctr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wrap="none" lIns="0" tIns="0" rIns="0" bIns="0" anchor="ctr" anchorCtr="1"/>
            <a:lstStyle/>
            <a:p>
              <a:pPr lvl="0" algn="r">
                <a:lnSpc>
                  <a:spcPct val="10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41</a:t>
              </a:r>
              <a:endParaRPr lang="en-US" altLang="zh-CN" sz="1800" b="1" dirty="0">
                <a:solidFill>
                  <a:srgbClr val="1485A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3443605" y="3055620"/>
            <a:ext cx="861695" cy="868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H="1">
            <a:off x="3613150" y="3243580"/>
            <a:ext cx="219710" cy="2203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H="1">
            <a:off x="3694430" y="3317875"/>
            <a:ext cx="391160" cy="38227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8" name="文本框 127"/>
          <p:cNvSpPr txBox="1"/>
          <p:nvPr/>
        </p:nvSpPr>
        <p:spPr>
          <a:xfrm>
            <a:off x="622300" y="4015740"/>
            <a:ext cx="403415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Upper-triangle workloads are imbalanced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254635" y="4360545"/>
            <a:ext cx="745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Row 0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254635" y="4697730"/>
            <a:ext cx="745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Row 1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254635" y="5728335"/>
            <a:ext cx="745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Row n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1300" y="831850"/>
            <a:ext cx="11878945" cy="383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900" b="1">
                <a:latin typeface="微软雅黑" panose="020B0503020204020204" charset="-122"/>
                <a:ea typeface="微软雅黑" panose="020B0503020204020204" charset="-122"/>
              </a:rPr>
              <a:t>Insight: upper-triangle computation reduces arithmetic work, but the actual speedup is limited. </a:t>
            </a:r>
            <a:endParaRPr lang="en-US" altLang="zh-CN" sz="19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3930650" y="3547110"/>
            <a:ext cx="219710" cy="2203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44500" y="1936750"/>
            <a:ext cx="45370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 i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Compute only the upper triangle and mirror it to the lower triangle, theoretically reducing the computational workload by </a:t>
            </a:r>
            <a:r>
              <a:rPr lang="en-US" altLang="zh-CN" sz="14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nearly 50%.</a:t>
            </a:r>
            <a:endParaRPr lang="en-US" altLang="zh-CN" sz="14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43000" y="4443730"/>
            <a:ext cx="2548890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43000" y="4758690"/>
            <a:ext cx="2127885" cy="18415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4635" y="5421630"/>
            <a:ext cx="946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Row n-1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43000" y="5482590"/>
            <a:ext cx="476885" cy="18415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43000" y="5818505"/>
            <a:ext cx="211455" cy="184150"/>
          </a:xfrm>
          <a:prstGeom prst="rect">
            <a:avLst/>
          </a:prstGeom>
          <a:solidFill>
            <a:srgbClr val="CAECF2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4635" y="5008880"/>
            <a:ext cx="745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Row 2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43000" y="5069840"/>
            <a:ext cx="239458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43000" y="508381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......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右大括号 28"/>
          <p:cNvSpPr/>
          <p:nvPr/>
        </p:nvSpPr>
        <p:spPr>
          <a:xfrm>
            <a:off x="3756660" y="4443730"/>
            <a:ext cx="196850" cy="8318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988435" y="4561840"/>
            <a:ext cx="11957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i="1">
                <a:latin typeface="微软雅黑" panose="020B0503020204020204" charset="-122"/>
                <a:ea typeface="微软雅黑" panose="020B0503020204020204" charset="-122"/>
              </a:rPr>
              <a:t>long-tail bottleneck</a:t>
            </a:r>
            <a:endParaRPr lang="en-US" altLang="zh-CN" sz="1400" b="1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105025" y="5577840"/>
            <a:ext cx="287655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i="1">
                <a:latin typeface="微软雅黑" panose="020B0503020204020204" charset="-122"/>
                <a:ea typeface="微软雅黑" panose="020B0503020204020204" charset="-122"/>
              </a:rPr>
              <a:t>heavy rows still dominate GPU  runtime</a:t>
            </a:r>
            <a:endParaRPr lang="en-US" altLang="zh-CN" sz="1400" b="1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: 圆角 39"/>
          <p:cNvSpPr/>
          <p:nvPr>
            <p:custDataLst>
              <p:tags r:id="rId7"/>
            </p:custDataLst>
          </p:nvPr>
        </p:nvSpPr>
        <p:spPr>
          <a:xfrm>
            <a:off x="5398770" y="1294130"/>
            <a:ext cx="6517005" cy="466725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Our solution: </a:t>
            </a:r>
            <a:r>
              <a:rPr kumimoji="1" lang="en-US" alt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Tail-Balanced Workload Partitioning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endParaRPr lang="en-US" altLang="zh-CN" sz="1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637530" y="1760855"/>
            <a:ext cx="552704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1) Calculate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row workload (</a:t>
            </a:r>
            <a:r>
              <a:rPr lang="en-US" altLang="zh-CN" sz="1800" b="1" i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offline or CPU-side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) 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24805" y="2013585"/>
            <a:ext cx="630682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Row workload = number of generated 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upper-triangle partial products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637530" y="3408045"/>
            <a:ext cx="446595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2) Reshape row tasks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58155" y="6002655"/>
            <a:ext cx="6224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split heavy rows and fuse light rows → balanced GPU tasks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696585" y="4156075"/>
            <a:ext cx="2039620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58155" y="3776345"/>
            <a:ext cx="21977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original row tasks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696585" y="4537075"/>
            <a:ext cx="476885" cy="18415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696585" y="5200015"/>
            <a:ext cx="211455" cy="184150"/>
          </a:xfrm>
          <a:prstGeom prst="rect">
            <a:avLst/>
          </a:prstGeom>
          <a:solidFill>
            <a:srgbClr val="CAECF2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696585" y="4862195"/>
            <a:ext cx="656590" cy="18415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8438515" y="5698490"/>
            <a:ext cx="687705" cy="184150"/>
            <a:chOff x="13289" y="8974"/>
            <a:chExt cx="1083" cy="290"/>
          </a:xfrm>
        </p:grpSpPr>
        <p:sp>
          <p:nvSpPr>
            <p:cNvPr id="57" name="矩形 56"/>
            <p:cNvSpPr/>
            <p:nvPr/>
          </p:nvSpPr>
          <p:spPr>
            <a:xfrm>
              <a:off x="13289" y="8974"/>
              <a:ext cx="751" cy="290"/>
            </a:xfrm>
            <a:prstGeom prst="rect">
              <a:avLst/>
            </a:prstGeom>
            <a:solidFill>
              <a:srgbClr val="00B0F0"/>
            </a:solidFill>
            <a:ln w="25400" algn="ctr">
              <a:solidFill>
                <a:schemeClr val="tx1"/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4040" y="8974"/>
              <a:ext cx="333" cy="290"/>
            </a:xfrm>
            <a:prstGeom prst="rect">
              <a:avLst/>
            </a:prstGeom>
            <a:solidFill>
              <a:srgbClr val="CAECF2"/>
            </a:solidFill>
            <a:ln w="25400" algn="ctr">
              <a:solidFill>
                <a:schemeClr val="tx1"/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8427720" y="4156075"/>
            <a:ext cx="75247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427720" y="4471035"/>
            <a:ext cx="75247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427720" y="4796155"/>
            <a:ext cx="75247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38515" y="5401945"/>
            <a:ext cx="656590" cy="18415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133715" y="3820160"/>
            <a:ext cx="1544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balanced tasks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7" name="直接箭头连接符 66"/>
          <p:cNvCxnSpPr>
            <a:stCxn id="50" idx="3"/>
            <a:endCxn id="60" idx="1"/>
          </p:cNvCxnSpPr>
          <p:nvPr/>
        </p:nvCxnSpPr>
        <p:spPr>
          <a:xfrm>
            <a:off x="7736205" y="4248150"/>
            <a:ext cx="691515" cy="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61" idx="1"/>
          </p:cNvCxnSpPr>
          <p:nvPr/>
        </p:nvCxnSpPr>
        <p:spPr>
          <a:xfrm>
            <a:off x="7755890" y="4257040"/>
            <a:ext cx="671830" cy="306070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2" idx="1"/>
          </p:cNvCxnSpPr>
          <p:nvPr/>
        </p:nvCxnSpPr>
        <p:spPr>
          <a:xfrm>
            <a:off x="7755890" y="4257040"/>
            <a:ext cx="671830" cy="63119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6173470" y="4629150"/>
            <a:ext cx="2287905" cy="106362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5908040" y="5300345"/>
            <a:ext cx="2557780" cy="568325"/>
          </a:xfrm>
          <a:prstGeom prst="straightConnector1">
            <a:avLst/>
          </a:prstGeom>
          <a:ln>
            <a:solidFill>
              <a:srgbClr val="BDD6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10100945" y="3807460"/>
            <a:ext cx="15443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GPU execution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across SMs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10061575" y="4609465"/>
            <a:ext cx="0" cy="12573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0633075" y="4609465"/>
            <a:ext cx="0" cy="12573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11210925" y="4600575"/>
            <a:ext cx="0" cy="12573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1741150" y="4600575"/>
            <a:ext cx="0" cy="12573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8423275" y="5107305"/>
            <a:ext cx="75247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80" name="直接箭头连接符 79"/>
          <p:cNvCxnSpPr>
            <a:endCxn id="79" idx="1"/>
          </p:cNvCxnSpPr>
          <p:nvPr/>
        </p:nvCxnSpPr>
        <p:spPr>
          <a:xfrm>
            <a:off x="7692390" y="4218940"/>
            <a:ext cx="730885" cy="98044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10103485" y="4612005"/>
            <a:ext cx="50355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0661650" y="4612005"/>
            <a:ext cx="50355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1236960" y="4612005"/>
            <a:ext cx="466090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103485" y="4981575"/>
            <a:ext cx="503555" cy="184150"/>
          </a:xfrm>
          <a:prstGeom prst="rect">
            <a:avLst/>
          </a:prstGeom>
          <a:solidFill>
            <a:srgbClr val="7030A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661650" y="4981575"/>
            <a:ext cx="502920" cy="18415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11236960" y="4980305"/>
            <a:ext cx="465455" cy="184150"/>
            <a:chOff x="13289" y="8974"/>
            <a:chExt cx="1083" cy="290"/>
          </a:xfrm>
        </p:grpSpPr>
        <p:sp>
          <p:nvSpPr>
            <p:cNvPr id="103" name="矩形 102"/>
            <p:cNvSpPr/>
            <p:nvPr/>
          </p:nvSpPr>
          <p:spPr>
            <a:xfrm>
              <a:off x="13289" y="8974"/>
              <a:ext cx="751" cy="290"/>
            </a:xfrm>
            <a:prstGeom prst="rect">
              <a:avLst/>
            </a:prstGeom>
            <a:solidFill>
              <a:srgbClr val="00B0F0"/>
            </a:solidFill>
            <a:ln w="25400" algn="ctr">
              <a:solidFill>
                <a:schemeClr val="tx1"/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14040" y="8974"/>
              <a:ext cx="333" cy="290"/>
            </a:xfrm>
            <a:prstGeom prst="rect">
              <a:avLst/>
            </a:prstGeom>
            <a:solidFill>
              <a:srgbClr val="CAECF2"/>
            </a:solidFill>
            <a:ln w="25400" algn="ctr">
              <a:solidFill>
                <a:schemeClr val="tx1"/>
              </a:solidFill>
              <a:round/>
            </a:ln>
          </p:spPr>
          <p:txBody>
            <a:bodyPr wrap="none" lIns="162000" anchor="ctr"/>
            <a:lstStyle/>
            <a:p>
              <a:pPr marL="0" lvl="0" indent="0" algn="l" eaLnBrk="1" hangingPunct="1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None/>
              </a:pPr>
              <a:endParaRPr lang="en-US" altLang="zh-CN" sz="2400" b="1" dirty="0">
                <a:solidFill>
                  <a:srgbClr val="1485A4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24" name="右箭头 123"/>
          <p:cNvSpPr/>
          <p:nvPr/>
        </p:nvSpPr>
        <p:spPr>
          <a:xfrm>
            <a:off x="9521825" y="4727575"/>
            <a:ext cx="377825" cy="28130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25400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0607040" y="525399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......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9985375" y="4318000"/>
            <a:ext cx="7404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SM0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10496550" y="4318000"/>
            <a:ext cx="7404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SM1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11042650" y="4322445"/>
            <a:ext cx="7404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SM2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374005" y="2588895"/>
                <a:ext cx="6096000" cy="79565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∆</m:t>
                          </m:r>
                        </m:sup>
                      </m:sSubSup>
                      <m:r>
                        <a:rPr lang="en-US" altLang="zh-CN" sz="1800" b="1" i="1" dirty="0">
                          <a:solidFill>
                            <a:srgbClr val="1485A4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naryPr>
                        <m:sub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𝒌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∈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𝒔𝒖𝒑𝒑</m:t>
                          </m:r>
                          <m:d>
                            <m:dPr>
                              <m:ctrlPr>
                                <a:rPr lang="en-US" altLang="zh-CN" sz="1800" b="1" i="1" dirty="0">
                                  <a:solidFill>
                                    <a:srgbClr val="1485A4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b="1" i="1" dirty="0">
                                      <a:solidFill>
                                        <a:srgbClr val="1485A4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 dirty="0">
                                      <a:solidFill>
                                        <a:srgbClr val="1485A4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1800" b="1" i="1" dirty="0">
                                      <a:solidFill>
                                        <a:srgbClr val="1485A4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𝒊</m:t>
                                  </m:r>
                                  <m:r>
                                    <a:rPr lang="en-US" altLang="zh-CN" sz="1800" b="1" i="1" dirty="0">
                                      <a:solidFill>
                                        <a:srgbClr val="1485A4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,: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|{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𝒋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≥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𝒊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US" altLang="zh-CN" sz="1800" b="1" i="1" dirty="0">
                                  <a:solidFill>
                                    <a:srgbClr val="1485A4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 dirty="0">
                                  <a:solidFill>
                                    <a:srgbClr val="1485A4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1800" b="1" i="1" dirty="0">
                                  <a:solidFill>
                                    <a:srgbClr val="1485A4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𝒋</m:t>
                              </m:r>
                              <m:r>
                                <a:rPr lang="en-US" altLang="zh-CN" sz="1800" b="1" i="1" dirty="0">
                                  <a:solidFill>
                                    <a:srgbClr val="1485A4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,</m:t>
                              </m:r>
                              <m:r>
                                <a:rPr lang="en-US" altLang="zh-CN" sz="1800" b="1" i="1" dirty="0">
                                  <a:solidFill>
                                    <a:srgbClr val="1485A4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 ≠ 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𝟎</m:t>
                          </m:r>
                          <m:r>
                            <a:rPr lang="en-US" altLang="zh-CN" sz="1800" b="1" i="1" dirty="0">
                              <a:solidFill>
                                <a:srgbClr val="1485A4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}|</m:t>
                          </m:r>
                        </m:e>
                      </m:nary>
                    </m:oMath>
                  </m:oMathPara>
                </a14:m>
                <a:endParaRPr lang="en-US" altLang="zh-CN" sz="1800" b="1" i="1" dirty="0">
                  <a:solidFill>
                    <a:srgbClr val="1485A4"/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005" y="2588895"/>
                <a:ext cx="6096000" cy="79565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圆角矩形 41"/>
          <p:cNvSpPr/>
          <p:nvPr/>
        </p:nvSpPr>
        <p:spPr>
          <a:xfrm>
            <a:off x="5908040" y="2588895"/>
            <a:ext cx="5302885" cy="758190"/>
          </a:xfrm>
          <a:prstGeom prst="roundRect">
            <a:avLst/>
          </a:prstGeom>
          <a:noFill/>
          <a:ln w="25400" algn="ctr">
            <a:solidFill>
              <a:schemeClr val="tx1"/>
            </a:solidFill>
            <a:prstDash val="dash"/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88290" y="30480"/>
            <a:ext cx="10709856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Evaluation</a:t>
            </a:r>
            <a:endParaRPr kumimoji="1" 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: 圆角 4"/>
          <p:cNvSpPr/>
          <p:nvPr>
            <p:custDataLst>
              <p:tags r:id="rId4"/>
            </p:custDataLst>
          </p:nvPr>
        </p:nvSpPr>
        <p:spPr>
          <a:xfrm>
            <a:off x="338455" y="4128770"/>
            <a:ext cx="11548745" cy="245237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pic>
        <p:nvPicPr>
          <p:cNvPr id="10" name="图片 9" descr="result_overa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75" y="1645285"/>
            <a:ext cx="4837430" cy="21037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301115"/>
            <a:ext cx="7510145" cy="2618740"/>
          </a:xfrm>
          <a:prstGeom prst="rect">
            <a:avLst/>
          </a:prstGeom>
        </p:spPr>
      </p:pic>
      <p:sp>
        <p:nvSpPr>
          <p:cNvPr id="81" name="矩形: 圆角 4"/>
          <p:cNvSpPr/>
          <p:nvPr>
            <p:custDataLst>
              <p:tags r:id="rId7"/>
            </p:custDataLst>
          </p:nvPr>
        </p:nvSpPr>
        <p:spPr>
          <a:xfrm>
            <a:off x="338455" y="1423035"/>
            <a:ext cx="11548745" cy="245237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: 圆角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1513205" y="1250315"/>
                <a:ext cx="2003425" cy="344170"/>
              </a:xfrm>
              <a:prstGeom prst="roundRect">
                <a:avLst/>
              </a:prstGeom>
              <a:solidFill>
                <a:srgbClr val="0D77C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𝑪</m:t>
                      </m:r>
                      <m:r>
                        <a:rPr lang="en-US" altLang="zh-CN" sz="1800" b="1" i="1"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r>
                        <a:rPr lang="en-US" altLang="zh-CN" sz="18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a:rPr lang="en-US" altLang="zh-CN" sz="1800" b="1" i="1"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  <a:sym typeface="+mn-ea"/>
                        </a:rPr>
                        <m:t>×</m:t>
                      </m:r>
                      <m:r>
                        <a:rPr lang="en-US" altLang="zh-CN" sz="18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𝑨</m:t>
                      </m:r>
                    </m:oMath>
                  </m:oMathPara>
                </a14:m>
                <a:endParaRPr lang="en-US" altLang="zh-CN" sz="1800" b="1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9" name="矩形: 圆角 3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513205" y="1250315"/>
                <a:ext cx="2003425" cy="344170"/>
              </a:xfrm>
              <a:prstGeom prst="round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: 圆角 38"/>
              <p:cNvSpPr/>
              <p:nvPr>
                <p:custDataLst>
                  <p:tags r:id="rId11"/>
                </p:custDataLst>
              </p:nvPr>
            </p:nvSpPr>
            <p:spPr>
              <a:xfrm>
                <a:off x="8897937" y="3957320"/>
                <a:ext cx="2003425" cy="344170"/>
              </a:xfrm>
              <a:prstGeom prst="roundRect">
                <a:avLst/>
              </a:prstGeom>
              <a:solidFill>
                <a:srgbClr val="0D77C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𝑪</m:t>
                      </m:r>
                      <m:r>
                        <a:rPr lang="en-US" altLang="zh-CN" sz="1800" b="1" i="1"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r>
                        <a:rPr lang="en-US" altLang="zh-CN" sz="18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a:rPr lang="en-US" altLang="zh-CN" sz="1800" b="1" i="1">
                          <a:latin typeface="Cambria Math" panose="02040503050406030204" charset="0"/>
                          <a:ea typeface="Ms.Luce" panose="00000400000000000000" charset="0"/>
                          <a:cs typeface="Cambria Math" panose="02040503050406030204" charset="0"/>
                          <a:sym typeface="+mn-ea"/>
                        </a:rPr>
                        <m:t>×</m:t>
                      </m:r>
                      <m:sSup>
                        <m:sSupPr>
                          <m:ctrlPr>
                            <a:rPr lang="en-US" altLang="zh-CN" sz="1800" b="1" i="1"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1800" b="1" i="1"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  <a:sym typeface="+mn-ea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1800" b="1" i="1">
                              <a:latin typeface="Cambria Math" panose="02040503050406030204" charset="0"/>
                              <a:ea typeface="Ms.Luce" panose="00000400000000000000" charset="0"/>
                              <a:cs typeface="Cambria Math" panose="02040503050406030204" charset="0"/>
                              <a:sym typeface="+mn-ea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altLang="zh-CN" sz="1800" b="1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1" name="矩形: 圆角 3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8897937" y="3957320"/>
                <a:ext cx="2003425" cy="344170"/>
              </a:xfrm>
              <a:prstGeom prst="roundRect">
                <a:avLst/>
              </a:prstGeom>
              <a:blipFill rotWithShape="1">
                <a:blip r:embed="rId13"/>
                <a:stretch>
                  <a:fillRect l="-16" r="1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圆角矩形 139"/>
              <p:cNvSpPr/>
              <p:nvPr/>
            </p:nvSpPr>
            <p:spPr>
              <a:xfrm>
                <a:off x="288290" y="764540"/>
                <a:ext cx="11599545" cy="43434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algn="ctr">
                <a:solidFill>
                  <a:schemeClr val="tx1"/>
                </a:solidFill>
                <a:round/>
              </a:ln>
            </p:spPr>
            <p:txBody>
              <a:bodyPr wrap="none" lIns="162000" anchor="ctr"/>
              <a:lstStyle/>
              <a:p>
                <a:pPr marL="0" lvl="0" indent="0" algn="l" eaLnBrk="1" hangingPunct="1">
                  <a:lnSpc>
                    <a:spcPct val="130000"/>
                  </a:lnSpc>
                  <a:spcBef>
                    <a:spcPct val="0"/>
                  </a:spcBef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20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Result vs dense 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𝑨</m:t>
                    </m:r>
                    <m:r>
                      <a:rPr lang="en-US" altLang="zh-CN" sz="2000" b="1" i="1">
                        <a:latin typeface="Cambria Math" panose="02040503050406030204" charset="0"/>
                        <a:ea typeface="Ms.Luce" panose="00000400000000000000" charset="0"/>
                        <a:cs typeface="Cambria Math" panose="02040503050406030204" charset="0"/>
                        <a:sym typeface="+mn-ea"/>
                      </a:rPr>
                      <m:t>×</m:t>
                    </m:r>
                    <m:r>
                      <a:rPr lang="en-US" altLang="zh-CN" sz="20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𝑨</m:t>
                    </m:r>
                  </m:oMath>
                </a14:m>
                <a:r>
                  <a:rPr lang="en-US" altLang="zh-CN" sz="20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: Average  x(up to x)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𝑨</m:t>
                    </m:r>
                    <m:r>
                      <a:rPr lang="en-US" altLang="zh-CN" sz="2000" b="1" i="1">
                        <a:latin typeface="Cambria Math" panose="02040503050406030204" charset="0"/>
                        <a:ea typeface="Ms.Luce" panose="00000400000000000000" charset="0"/>
                        <a:cs typeface="Cambria Math" panose="02040503050406030204" charset="0"/>
                        <a:sym typeface="+mn-ea"/>
                      </a:rPr>
                      <m:t>×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charset="0"/>
                            <a:ea typeface="Ms.Luce" panose="00000400000000000000" charset="0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ea typeface="Ms.Luce" panose="00000400000000000000" charset="0"/>
                            <a:cs typeface="Cambria Math" panose="02040503050406030204" charset="0"/>
                            <a:sym typeface="+mn-ea"/>
                          </a:rPr>
                          <m:t>𝑨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charset="0"/>
                            <a:ea typeface="Ms.Luce" panose="00000400000000000000" charset="0"/>
                            <a:cs typeface="Cambria Math" panose="02040503050406030204" charset="0"/>
                            <a:sym typeface="+mn-ea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altLang="zh-CN" sz="2000" b="1" dirty="0">
                    <a:solidFill>
                      <a:srgbClr val="1485A4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: Average x(up to x)</a:t>
                </a:r>
                <a:endParaRPr lang="en-US" altLang="zh-CN" sz="2000" b="1" dirty="0">
                  <a:solidFill>
                    <a:srgbClr val="1485A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140" name="圆角矩形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90" y="764540"/>
                <a:ext cx="11599545" cy="434340"/>
              </a:xfrm>
              <a:prstGeom prst="roundRect">
                <a:avLst/>
              </a:prstGeom>
              <a:blipFill rotWithShape="1">
                <a:blip r:embed="rId14"/>
                <a:stretch>
                  <a:fillRect l="-109" t="-2924" r="-109" b="-2924"/>
                </a:stretch>
              </a:blipFill>
              <a:ln w="25400" algn="ctr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clusion_Design2_Card"/>
          <p:cNvSpPr/>
          <p:nvPr/>
        </p:nvSpPr>
        <p:spPr>
          <a:xfrm>
            <a:off x="512445" y="4766310"/>
            <a:ext cx="11154410" cy="1721485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nclusion_Tree_Stem"/>
          <p:cNvSpPr/>
          <p:nvPr/>
        </p:nvSpPr>
        <p:spPr>
          <a:xfrm>
            <a:off x="6060644" y="2127948"/>
            <a:ext cx="45719" cy="386906"/>
          </a:xfrm>
          <a:prstGeom prst="rect">
            <a:avLst/>
          </a:prstGeom>
          <a:solidFill>
            <a:srgbClr val="0D7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nclusion_Design2_Card"/>
          <p:cNvSpPr/>
          <p:nvPr/>
        </p:nvSpPr>
        <p:spPr>
          <a:xfrm>
            <a:off x="8138795" y="2729230"/>
            <a:ext cx="3776345" cy="1725930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clusion_Design2_Card"/>
          <p:cNvSpPr/>
          <p:nvPr/>
        </p:nvSpPr>
        <p:spPr>
          <a:xfrm>
            <a:off x="4146550" y="2796540"/>
            <a:ext cx="3776345" cy="1659255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8036" y="32004"/>
            <a:ext cx="10698480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sz="3200" b="1" i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Conclusion</a:t>
            </a:r>
            <a:endParaRPr kumimoji="1" lang="en-US" sz="3200" b="1" i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45370" y="64046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Conclusion_Design1_Card"/>
          <p:cNvSpPr/>
          <p:nvPr/>
        </p:nvSpPr>
        <p:spPr>
          <a:xfrm>
            <a:off x="2441448" y="863854"/>
            <a:ext cx="7315200" cy="142646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clusion_Header_1"/>
          <p:cNvSpPr/>
          <p:nvPr/>
        </p:nvSpPr>
        <p:spPr>
          <a:xfrm>
            <a:off x="2441448" y="863600"/>
            <a:ext cx="7315200" cy="356616"/>
          </a:xfrm>
          <a:prstGeom prst="roundRect">
            <a:avLst/>
          </a:prstGeom>
          <a:solidFill>
            <a:srgbClr val="0D77C3"/>
          </a:solidFill>
          <a:ln w="11430">
            <a:solidFill>
              <a:srgbClr val="0D7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bIns="0" rtlCol="0" anchor="ctr"/>
          <a:lstStyle/>
          <a:p>
            <a:pPr algn="ctr"/>
            <a:r>
              <a:rPr lang="en-US" sz="1250" b="1" i="0">
                <a:solidFill>
                  <a:srgbClr val="FFFFFF"/>
                </a:solidFill>
                <a:latin typeface="微软雅黑" panose="020B0503020204020204" charset="-122"/>
              </a:rPr>
              <a:t>OVERALL</a:t>
            </a: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</a:rPr>
              <a:t>   ·   ADAPTIVE DISPATCH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Conclusion_D1_Features"/>
          <p:cNvSpPr txBox="1"/>
          <p:nvPr/>
        </p:nvSpPr>
        <p:spPr>
          <a:xfrm>
            <a:off x="2660904" y="1366520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5B6774"/>
                </a:solidFill>
                <a:latin typeface="微软雅黑" panose="020B0503020204020204" charset="-122"/>
              </a:rPr>
              <a:t>matrix features</a:t>
            </a:r>
            <a:endParaRPr sz="1150" b="1" i="0">
              <a:solidFill>
                <a:srgbClr val="5B6774"/>
              </a:solidFill>
              <a:latin typeface="微软雅黑" panose="020B0503020204020204" charset="-122"/>
            </a:endParaRPr>
          </a:p>
        </p:txBody>
      </p:sp>
      <p:sp>
        <p:nvSpPr>
          <p:cNvPr id="13" name="Conclusion_D1_Input"/>
          <p:cNvSpPr/>
          <p:nvPr/>
        </p:nvSpPr>
        <p:spPr>
          <a:xfrm>
            <a:off x="2898648" y="1617472"/>
            <a:ext cx="1463040" cy="356616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50" b="1" i="0">
                <a:solidFill>
                  <a:srgbClr val="1F2935"/>
                </a:solidFill>
                <a:latin typeface="微软雅黑" panose="020B0503020204020204" charset="-122"/>
              </a:rPr>
              <a:t>INPUT  A</a:t>
            </a:r>
            <a:endParaRPr sz="1150" b="1" i="0">
              <a:solidFill>
                <a:srgbClr val="1F2935"/>
              </a:solidFill>
              <a:latin typeface="微软雅黑" panose="020B0503020204020204" charset="-122"/>
            </a:endParaRPr>
          </a:p>
        </p:txBody>
      </p:sp>
      <p:sp>
        <p:nvSpPr>
          <p:cNvPr id="14" name="Conclusion_D1_Line_Input"/>
          <p:cNvSpPr/>
          <p:nvPr/>
        </p:nvSpPr>
        <p:spPr>
          <a:xfrm>
            <a:off x="4361688" y="1762938"/>
            <a:ext cx="294260" cy="60350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clusion_D1_Line_Hash"/>
          <p:cNvSpPr/>
          <p:nvPr/>
        </p:nvSpPr>
        <p:spPr>
          <a:xfrm rot="759591">
            <a:off x="4979162" y="1939531"/>
            <a:ext cx="392684" cy="45719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clusion_D1_Hash"/>
          <p:cNvSpPr/>
          <p:nvPr/>
        </p:nvSpPr>
        <p:spPr>
          <a:xfrm>
            <a:off x="5354574" y="1810963"/>
            <a:ext cx="1078992" cy="347472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50" b="1" i="0">
                <a:solidFill>
                  <a:srgbClr val="1485A4"/>
                </a:solidFill>
                <a:latin typeface="微软雅黑" panose="020B0503020204020204" charset="-122"/>
              </a:rPr>
              <a:t>HASH</a:t>
            </a:r>
            <a:endParaRPr sz="1150" b="1" i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20" name="Conclusion_D1_Title"/>
          <p:cNvSpPr txBox="1"/>
          <p:nvPr/>
        </p:nvSpPr>
        <p:spPr>
          <a:xfrm>
            <a:off x="6830060" y="1476693"/>
            <a:ext cx="2743835" cy="2533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1F2935"/>
                </a:solidFill>
                <a:latin typeface="微软雅黑" panose="020B0503020204020204" charset="-122"/>
              </a:rPr>
              <a:t>Matrix-aware selection</a:t>
            </a:r>
            <a:endParaRPr sz="1650" b="1" i="0">
              <a:solidFill>
                <a:srgbClr val="1F2935"/>
              </a:solidFill>
              <a:latin typeface="微软雅黑" panose="020B0503020204020204" charset="-122"/>
            </a:endParaRPr>
          </a:p>
        </p:txBody>
      </p:sp>
      <p:sp>
        <p:nvSpPr>
          <p:cNvPr id="21" name="Conclusion_D1_Result"/>
          <p:cNvSpPr txBox="1"/>
          <p:nvPr/>
        </p:nvSpPr>
        <p:spPr>
          <a:xfrm>
            <a:off x="7013448" y="1778000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50" b="1" i="0">
                <a:solidFill>
                  <a:srgbClr val="0D77C3"/>
                </a:solidFill>
                <a:latin typeface="微软雅黑" panose="020B0503020204020204" charset="-122"/>
              </a:rPr>
              <a:t>Merge  or  Hash</a:t>
            </a:r>
            <a:endParaRPr sz="1850" b="1" i="0">
              <a:solidFill>
                <a:srgbClr val="0D77C3"/>
              </a:solidFill>
              <a:latin typeface="微软雅黑" panose="020B0503020204020204" charset="-122"/>
            </a:endParaRPr>
          </a:p>
        </p:txBody>
      </p:sp>
      <p:sp>
        <p:nvSpPr>
          <p:cNvPr id="23" name="Conclusion_Tree_Branch"/>
          <p:cNvSpPr/>
          <p:nvPr/>
        </p:nvSpPr>
        <p:spPr>
          <a:xfrm>
            <a:off x="2130552" y="2465902"/>
            <a:ext cx="7918704" cy="47123"/>
          </a:xfrm>
          <a:prstGeom prst="rect">
            <a:avLst/>
          </a:prstGeom>
          <a:solidFill>
            <a:srgbClr val="0D7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nclusion_Tree_Down_2"/>
          <p:cNvSpPr/>
          <p:nvPr/>
        </p:nvSpPr>
        <p:spPr>
          <a:xfrm flipH="1">
            <a:off x="2126183" y="2496566"/>
            <a:ext cx="45719" cy="274320"/>
          </a:xfrm>
          <a:prstGeom prst="rect">
            <a:avLst/>
          </a:prstGeom>
          <a:solidFill>
            <a:srgbClr val="0D7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nclusion_Tree_Down_3"/>
          <p:cNvSpPr/>
          <p:nvPr/>
        </p:nvSpPr>
        <p:spPr>
          <a:xfrm>
            <a:off x="6060136" y="2496566"/>
            <a:ext cx="45719" cy="274320"/>
          </a:xfrm>
          <a:prstGeom prst="rect">
            <a:avLst/>
          </a:prstGeom>
          <a:solidFill>
            <a:srgbClr val="0D7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nclusion_Tree_Down_4"/>
          <p:cNvSpPr/>
          <p:nvPr/>
        </p:nvSpPr>
        <p:spPr>
          <a:xfrm>
            <a:off x="9997898" y="2496566"/>
            <a:ext cx="45719" cy="274320"/>
          </a:xfrm>
          <a:prstGeom prst="rect">
            <a:avLst/>
          </a:prstGeom>
          <a:solidFill>
            <a:srgbClr val="0D7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nclusion_Path_Merge"/>
          <p:cNvSpPr txBox="1"/>
          <p:nvPr/>
        </p:nvSpPr>
        <p:spPr>
          <a:xfrm>
            <a:off x="2221992" y="2530666"/>
            <a:ext cx="1170432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D77C3"/>
                </a:solidFill>
                <a:latin typeface="微软雅黑" panose="020B0503020204020204" charset="-122"/>
              </a:rPr>
              <a:t>MERGE path</a:t>
            </a:r>
            <a:endParaRPr sz="1400" b="1" i="0">
              <a:solidFill>
                <a:srgbClr val="0D77C3"/>
              </a:solidFill>
              <a:latin typeface="微软雅黑" panose="020B0503020204020204" charset="-122"/>
            </a:endParaRPr>
          </a:p>
        </p:txBody>
      </p:sp>
      <p:sp>
        <p:nvSpPr>
          <p:cNvPr id="28" name="Conclusion_Path_Hash"/>
          <p:cNvSpPr txBox="1"/>
          <p:nvPr/>
        </p:nvSpPr>
        <p:spPr>
          <a:xfrm>
            <a:off x="6181344" y="2530666"/>
            <a:ext cx="1078992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485A4"/>
                </a:solidFill>
                <a:latin typeface="微软雅黑" panose="020B0503020204020204" charset="-122"/>
              </a:rPr>
              <a:t>HASH path</a:t>
            </a:r>
            <a:endParaRPr sz="1400" b="1" i="0" dirty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29" name="Conclusion_Path_AAT"/>
          <p:cNvSpPr txBox="1"/>
          <p:nvPr/>
        </p:nvSpPr>
        <p:spPr>
          <a:xfrm>
            <a:off x="10140696" y="2530666"/>
            <a:ext cx="1719072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5B6774"/>
                </a:solidFill>
                <a:latin typeface="微软雅黑" panose="020B0503020204020204" charset="-122"/>
              </a:rPr>
              <a:t>AAT</a:t>
            </a:r>
            <a:r>
              <a:rPr sz="1050" b="1" i="0" dirty="0">
                <a:solidFill>
                  <a:srgbClr val="5B6774"/>
                </a:solidFill>
                <a:latin typeface="微软雅黑" panose="020B0503020204020204" charset="-122"/>
              </a:rPr>
              <a:t> path</a:t>
            </a:r>
            <a:endParaRPr sz="1050" b="1" i="0" dirty="0">
              <a:solidFill>
                <a:srgbClr val="5B6774"/>
              </a:solidFill>
              <a:latin typeface="微软雅黑" panose="020B0503020204020204" charset="-122"/>
            </a:endParaRPr>
          </a:p>
        </p:txBody>
      </p:sp>
      <p:sp>
        <p:nvSpPr>
          <p:cNvPr id="30" name="Conclusion_Design2_Card"/>
          <p:cNvSpPr/>
          <p:nvPr/>
        </p:nvSpPr>
        <p:spPr>
          <a:xfrm>
            <a:off x="224155" y="2734310"/>
            <a:ext cx="3776345" cy="1721485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nclusion_Header_2"/>
          <p:cNvSpPr/>
          <p:nvPr/>
        </p:nvSpPr>
        <p:spPr>
          <a:xfrm>
            <a:off x="224155" y="2734945"/>
            <a:ext cx="3776472" cy="356616"/>
          </a:xfrm>
          <a:prstGeom prst="roundRect">
            <a:avLst/>
          </a:prstGeom>
          <a:solidFill>
            <a:srgbClr val="0D77C3"/>
          </a:solidFill>
          <a:ln w="11430">
            <a:solidFill>
              <a:srgbClr val="0D7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bIns="0" rtlCol="0" anchor="ctr"/>
          <a:lstStyle/>
          <a:p>
            <a:pPr algn="ctr"/>
            <a:r>
              <a:rPr sz="1200" b="1" i="0">
                <a:solidFill>
                  <a:schemeClr val="bg1"/>
                </a:solidFill>
                <a:latin typeface="微软雅黑" panose="020B0503020204020204" charset="-122"/>
              </a:rPr>
              <a:t>DESIGN </a:t>
            </a:r>
            <a:r>
              <a:rPr lang="en-US" sz="1200" b="1" i="0">
                <a:solidFill>
                  <a:schemeClr val="bg1"/>
                </a:solidFill>
                <a:latin typeface="微软雅黑" panose="020B0503020204020204" charset="-122"/>
              </a:rPr>
              <a:t>1</a:t>
            </a:r>
            <a:r>
              <a:rPr sz="1200" b="1" i="0">
                <a:solidFill>
                  <a:schemeClr val="bg1"/>
                </a:solidFill>
                <a:latin typeface="微软雅黑" panose="020B0503020204020204" charset="-122"/>
              </a:rPr>
              <a:t>   ·   </a:t>
            </a:r>
            <a:r>
              <a:rPr sz="12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Column-Domain Parallel Merge</a:t>
            </a:r>
            <a:endParaRPr sz="1200" b="1" i="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54" name="Conclusion_Header_3"/>
          <p:cNvSpPr/>
          <p:nvPr/>
        </p:nvSpPr>
        <p:spPr>
          <a:xfrm>
            <a:off x="4146550" y="2729230"/>
            <a:ext cx="3776472" cy="356616"/>
          </a:xfrm>
          <a:prstGeom prst="roundRect">
            <a:avLst/>
          </a:prstGeom>
          <a:solidFill>
            <a:srgbClr val="0D77C3"/>
          </a:solidFill>
          <a:ln w="11430">
            <a:solidFill>
              <a:srgbClr val="0D7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bIns="0" rtlCol="0" anchor="ctr"/>
          <a:lstStyle/>
          <a:p>
            <a:pPr algn="ctr"/>
            <a:r>
              <a:rPr sz="1200" b="1" i="0">
                <a:solidFill>
                  <a:schemeClr val="bg1"/>
                </a:solidFill>
                <a:latin typeface="微软雅黑" panose="020B0503020204020204" charset="-122"/>
              </a:rPr>
              <a:t>DESIGN </a:t>
            </a:r>
            <a:r>
              <a:rPr lang="en-US" sz="1200" b="1" i="0">
                <a:solidFill>
                  <a:schemeClr val="bg1"/>
                </a:solidFill>
                <a:latin typeface="微软雅黑" panose="020B0503020204020204" charset="-122"/>
              </a:rPr>
              <a:t>2</a:t>
            </a:r>
            <a:r>
              <a:rPr sz="1200" b="1" i="0">
                <a:solidFill>
                  <a:schemeClr val="bg1"/>
                </a:solidFill>
                <a:latin typeface="微软雅黑" panose="020B0503020204020204" charset="-122"/>
              </a:rPr>
              <a:t>   ·   </a:t>
            </a:r>
            <a:r>
              <a:rPr sz="12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Light-Symbolic MinHash</a:t>
            </a:r>
            <a:endParaRPr sz="1200" b="1" i="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70" name="Conclusion_Header_4"/>
          <p:cNvSpPr/>
          <p:nvPr/>
        </p:nvSpPr>
        <p:spPr>
          <a:xfrm>
            <a:off x="8138922" y="2729230"/>
            <a:ext cx="3776472" cy="356616"/>
          </a:xfrm>
          <a:prstGeom prst="roundRect">
            <a:avLst/>
          </a:prstGeom>
          <a:solidFill>
            <a:srgbClr val="0D77C3"/>
          </a:solidFill>
          <a:ln w="11430">
            <a:solidFill>
              <a:srgbClr val="0D7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bIns="0" rtlCol="0" anchor="ctr"/>
          <a:lstStyle/>
          <a:p>
            <a:pPr algn="ctr"/>
            <a:r>
              <a:rPr sz="1250" b="1" i="0">
                <a:solidFill>
                  <a:schemeClr val="bg1"/>
                </a:solidFill>
                <a:latin typeface="微软雅黑" panose="020B0503020204020204" charset="-122"/>
              </a:rPr>
              <a:t>DESIGN 4   ·  </a:t>
            </a:r>
            <a:r>
              <a:rPr sz="125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Tail-Balanced AAT</a:t>
            </a:r>
            <a:endParaRPr sz="1250" b="1" i="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73" name="Conclusion_D2_K_0"/>
          <p:cNvSpPr txBox="1"/>
          <p:nvPr/>
        </p:nvSpPr>
        <p:spPr>
          <a:xfrm>
            <a:off x="429768" y="3207639"/>
            <a:ext cx="256032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774"/>
                </a:solidFill>
                <a:latin typeface="微软雅黑" panose="020B0503020204020204" charset="-122"/>
              </a:rPr>
              <a:t>K0</a:t>
            </a:r>
            <a:endParaRPr sz="1200" b="1" i="0">
              <a:solidFill>
                <a:srgbClr val="5B6774"/>
              </a:solidFill>
              <a:latin typeface="微软雅黑" panose="020B0503020204020204" charset="-122"/>
            </a:endParaRPr>
          </a:p>
        </p:txBody>
      </p:sp>
      <p:sp>
        <p:nvSpPr>
          <p:cNvPr id="74" name="Conclusion_D2_PP_0_0"/>
          <p:cNvSpPr/>
          <p:nvPr/>
        </p:nvSpPr>
        <p:spPr>
          <a:xfrm>
            <a:off x="722376" y="3226562"/>
            <a:ext cx="182880" cy="128016"/>
          </a:xfrm>
          <a:prstGeom prst="round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onclusion_D2_PP_0_1"/>
          <p:cNvSpPr/>
          <p:nvPr/>
        </p:nvSpPr>
        <p:spPr>
          <a:xfrm>
            <a:off x="960120" y="3226562"/>
            <a:ext cx="182880" cy="128016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onclusion_D2_PP_0_2"/>
          <p:cNvSpPr/>
          <p:nvPr/>
        </p:nvSpPr>
        <p:spPr>
          <a:xfrm>
            <a:off x="1197864" y="3226562"/>
            <a:ext cx="182880" cy="128016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onclusion_D2_K_1"/>
          <p:cNvSpPr txBox="1"/>
          <p:nvPr/>
        </p:nvSpPr>
        <p:spPr>
          <a:xfrm>
            <a:off x="429768" y="3454527"/>
            <a:ext cx="256032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774"/>
                </a:solidFill>
                <a:latin typeface="微软雅黑" panose="020B0503020204020204" charset="-122"/>
              </a:rPr>
              <a:t>K1</a:t>
            </a:r>
            <a:endParaRPr sz="1200" b="1" i="0">
              <a:solidFill>
                <a:srgbClr val="5B6774"/>
              </a:solidFill>
              <a:latin typeface="微软雅黑" panose="020B0503020204020204" charset="-122"/>
            </a:endParaRPr>
          </a:p>
        </p:txBody>
      </p:sp>
      <p:sp>
        <p:nvSpPr>
          <p:cNvPr id="78" name="Conclusion_D2_PP_1_0"/>
          <p:cNvSpPr/>
          <p:nvPr/>
        </p:nvSpPr>
        <p:spPr>
          <a:xfrm>
            <a:off x="722376" y="3473450"/>
            <a:ext cx="182880" cy="128016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onclusion_D2_PP_1_1"/>
          <p:cNvSpPr/>
          <p:nvPr/>
        </p:nvSpPr>
        <p:spPr>
          <a:xfrm>
            <a:off x="960120" y="3473450"/>
            <a:ext cx="182880" cy="128016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onclusion_D2_PP_1_2"/>
          <p:cNvSpPr/>
          <p:nvPr/>
        </p:nvSpPr>
        <p:spPr>
          <a:xfrm>
            <a:off x="1197864" y="3473450"/>
            <a:ext cx="182880" cy="128016"/>
          </a:xfrm>
          <a:prstGeom prst="round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onclusion_D2_K_2"/>
          <p:cNvSpPr txBox="1"/>
          <p:nvPr/>
        </p:nvSpPr>
        <p:spPr>
          <a:xfrm>
            <a:off x="429768" y="3701415"/>
            <a:ext cx="256032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774"/>
                </a:solidFill>
                <a:latin typeface="微软雅黑" panose="020B0503020204020204" charset="-122"/>
              </a:rPr>
              <a:t>K2</a:t>
            </a:r>
            <a:endParaRPr sz="1200" b="1" i="0">
              <a:solidFill>
                <a:srgbClr val="5B6774"/>
              </a:solidFill>
              <a:latin typeface="微软雅黑" panose="020B0503020204020204" charset="-122"/>
            </a:endParaRPr>
          </a:p>
        </p:txBody>
      </p:sp>
      <p:sp>
        <p:nvSpPr>
          <p:cNvPr id="82" name="Conclusion_D2_PP_2_0"/>
          <p:cNvSpPr/>
          <p:nvPr/>
        </p:nvSpPr>
        <p:spPr>
          <a:xfrm>
            <a:off x="722376" y="3720338"/>
            <a:ext cx="182880" cy="128016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onclusion_D2_PP_2_1"/>
          <p:cNvSpPr/>
          <p:nvPr/>
        </p:nvSpPr>
        <p:spPr>
          <a:xfrm>
            <a:off x="960120" y="3720338"/>
            <a:ext cx="182880" cy="128016"/>
          </a:xfrm>
          <a:prstGeom prst="round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onclusion_D2_PP_2_2"/>
          <p:cNvSpPr/>
          <p:nvPr/>
        </p:nvSpPr>
        <p:spPr>
          <a:xfrm>
            <a:off x="1197864" y="3720338"/>
            <a:ext cx="182880" cy="128016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onclusion_D2_Bucket_0"/>
          <p:cNvSpPr/>
          <p:nvPr/>
        </p:nvSpPr>
        <p:spPr>
          <a:xfrm>
            <a:off x="2093976" y="3217418"/>
            <a:ext cx="402336" cy="512064"/>
          </a:xfrm>
          <a:prstGeom prst="round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400" b="1" i="0" dirty="0">
                <a:solidFill>
                  <a:srgbClr val="0D77C3"/>
                </a:solidFill>
                <a:latin typeface="微软雅黑" panose="020B0503020204020204" charset="-122"/>
              </a:rPr>
              <a:t>B0</a:t>
            </a:r>
            <a:endParaRPr sz="1400" b="1" i="0" dirty="0">
              <a:solidFill>
                <a:srgbClr val="0D77C3"/>
              </a:solidFill>
              <a:latin typeface="微软雅黑" panose="020B0503020204020204" charset="-122"/>
            </a:endParaRPr>
          </a:p>
        </p:txBody>
      </p:sp>
      <p:sp>
        <p:nvSpPr>
          <p:cNvPr id="90" name="Conclusion_D2_BucketItem_0_0"/>
          <p:cNvSpPr/>
          <p:nvPr/>
        </p:nvSpPr>
        <p:spPr>
          <a:xfrm>
            <a:off x="2124361" y="3555746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onclusion_D2_BucketItem_0_1"/>
          <p:cNvSpPr/>
          <p:nvPr/>
        </p:nvSpPr>
        <p:spPr>
          <a:xfrm>
            <a:off x="2246962" y="3555174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onclusion_D2_Bucket_1"/>
          <p:cNvSpPr/>
          <p:nvPr/>
        </p:nvSpPr>
        <p:spPr>
          <a:xfrm>
            <a:off x="2578608" y="3217418"/>
            <a:ext cx="402336" cy="512064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400" b="1" i="0">
                <a:solidFill>
                  <a:srgbClr val="1485A4"/>
                </a:solidFill>
                <a:latin typeface="微软雅黑" panose="020B0503020204020204" charset="-122"/>
              </a:rPr>
              <a:t>B1</a:t>
            </a:r>
            <a:endParaRPr sz="1400" b="1" i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95" name="Conclusion_D2_Bucket_2"/>
          <p:cNvSpPr/>
          <p:nvPr/>
        </p:nvSpPr>
        <p:spPr>
          <a:xfrm>
            <a:off x="3063240" y="3217418"/>
            <a:ext cx="402336" cy="512064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400" b="1" i="0">
                <a:solidFill>
                  <a:srgbClr val="0D77C3"/>
                </a:solidFill>
                <a:latin typeface="微软雅黑" panose="020B0503020204020204" charset="-122"/>
              </a:rPr>
              <a:t>B2</a:t>
            </a:r>
            <a:endParaRPr sz="1400" b="1" i="0">
              <a:solidFill>
                <a:srgbClr val="0D77C3"/>
              </a:solidFill>
              <a:latin typeface="微软雅黑" panose="020B0503020204020204" charset="-122"/>
            </a:endParaRPr>
          </a:p>
        </p:txBody>
      </p:sp>
      <p:sp>
        <p:nvSpPr>
          <p:cNvPr id="98" name="Conclusion_D2_ConcatLabel"/>
          <p:cNvSpPr txBox="1"/>
          <p:nvPr/>
        </p:nvSpPr>
        <p:spPr>
          <a:xfrm>
            <a:off x="1443355" y="3814445"/>
            <a:ext cx="2525395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1485A4"/>
                </a:solidFill>
                <a:latin typeface="微软雅黑" panose="020B0503020204020204" charset="-122"/>
              </a:rPr>
              <a:t>concatenate</a:t>
            </a:r>
            <a:endParaRPr sz="1400" b="1" i="0" dirty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99" name="Conclusion_D2_SortedSegment_0"/>
          <p:cNvSpPr/>
          <p:nvPr/>
        </p:nvSpPr>
        <p:spPr>
          <a:xfrm>
            <a:off x="1764410" y="4067937"/>
            <a:ext cx="640080" cy="15544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onclusion_D2_SortedSegment_1"/>
          <p:cNvSpPr/>
          <p:nvPr/>
        </p:nvSpPr>
        <p:spPr>
          <a:xfrm>
            <a:off x="2404491" y="4067937"/>
            <a:ext cx="640080" cy="155448"/>
          </a:xfrm>
          <a:prstGeom prst="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onclusion_D2_SortedSegment_2"/>
          <p:cNvSpPr/>
          <p:nvPr/>
        </p:nvSpPr>
        <p:spPr>
          <a:xfrm>
            <a:off x="3044571" y="4067937"/>
            <a:ext cx="640080" cy="155448"/>
          </a:xfrm>
          <a:prstGeom prst="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onclusion_D2_SortedLabel"/>
          <p:cNvSpPr txBox="1"/>
          <p:nvPr/>
        </p:nvSpPr>
        <p:spPr>
          <a:xfrm>
            <a:off x="1764410" y="4250563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774"/>
                </a:solidFill>
                <a:latin typeface="微软雅黑" panose="020B0503020204020204" charset="-122"/>
              </a:rPr>
              <a:t>column-sorted  C[i,:]</a:t>
            </a:r>
            <a:endParaRPr sz="1200" b="1" i="0">
              <a:solidFill>
                <a:srgbClr val="5B6774"/>
              </a:solidFill>
              <a:latin typeface="微软雅黑" panose="020B0503020204020204" charset="-122"/>
            </a:endParaRPr>
          </a:p>
        </p:txBody>
      </p:sp>
      <p:sp>
        <p:nvSpPr>
          <p:cNvPr id="105" name="Conclusion_D3_Nonzero_0"/>
          <p:cNvSpPr/>
          <p:nvPr/>
        </p:nvSpPr>
        <p:spPr>
          <a:xfrm>
            <a:off x="4425695" y="3253562"/>
            <a:ext cx="768095" cy="147155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endParaRPr>
              <a:solidFill>
                <a:srgbClr val="FFFFFF"/>
              </a:solidFill>
            </a:endParaRPr>
          </a:p>
        </p:txBody>
      </p:sp>
      <p:sp>
        <p:nvSpPr>
          <p:cNvPr id="106" name="Conclusion_D3_Nonzero_1"/>
          <p:cNvSpPr/>
          <p:nvPr/>
        </p:nvSpPr>
        <p:spPr>
          <a:xfrm>
            <a:off x="4422646" y="3450463"/>
            <a:ext cx="771143" cy="149377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</a:p>
        </p:txBody>
      </p:sp>
      <p:sp>
        <p:nvSpPr>
          <p:cNvPr id="107" name="Conclusion_D3_Nonzero_2"/>
          <p:cNvSpPr/>
          <p:nvPr/>
        </p:nvSpPr>
        <p:spPr>
          <a:xfrm>
            <a:off x="4426709" y="3643567"/>
            <a:ext cx="767079" cy="149377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endParaRPr>
              <a:solidFill>
                <a:srgbClr val="FFFFFF"/>
              </a:solidFill>
            </a:endParaRPr>
          </a:p>
        </p:txBody>
      </p:sp>
      <p:sp>
        <p:nvSpPr>
          <p:cNvPr id="108" name="Conclusion_D3_Nonzero_3"/>
          <p:cNvSpPr/>
          <p:nvPr/>
        </p:nvSpPr>
        <p:spPr>
          <a:xfrm>
            <a:off x="4422646" y="3837166"/>
            <a:ext cx="773493" cy="138125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</a:p>
        </p:txBody>
      </p:sp>
      <p:sp>
        <p:nvSpPr>
          <p:cNvPr id="109" name="Conclusion_D3_HashLine"/>
          <p:cNvSpPr/>
          <p:nvPr/>
        </p:nvSpPr>
        <p:spPr>
          <a:xfrm>
            <a:off x="5271323" y="3618867"/>
            <a:ext cx="292611" cy="45719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onclusion_D3_HashArrow"/>
          <p:cNvSpPr/>
          <p:nvPr/>
        </p:nvSpPr>
        <p:spPr>
          <a:xfrm rot="5400000">
            <a:off x="5495544" y="3555240"/>
            <a:ext cx="164592" cy="164592"/>
          </a:xfrm>
          <a:prstGeom prst="triangle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onclusion_D3_Bucket_0"/>
          <p:cNvSpPr/>
          <p:nvPr/>
        </p:nvSpPr>
        <p:spPr>
          <a:xfrm>
            <a:off x="5719825" y="3249071"/>
            <a:ext cx="256032" cy="738093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endParaRPr dirty="0">
              <a:solidFill>
                <a:srgbClr val="FFFFFF"/>
              </a:solidFill>
            </a:endParaRPr>
          </a:p>
        </p:txBody>
      </p:sp>
      <p:sp>
        <p:nvSpPr>
          <p:cNvPr id="114" name="Conclusion_D3_Bucket_1"/>
          <p:cNvSpPr/>
          <p:nvPr/>
        </p:nvSpPr>
        <p:spPr>
          <a:xfrm>
            <a:off x="6049866" y="3253750"/>
            <a:ext cx="256032" cy="733413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</a:p>
        </p:txBody>
      </p:sp>
      <p:sp>
        <p:nvSpPr>
          <p:cNvPr id="115" name="Conclusion_D3_Bucket_2"/>
          <p:cNvSpPr/>
          <p:nvPr/>
        </p:nvSpPr>
        <p:spPr>
          <a:xfrm>
            <a:off x="6376855" y="3252390"/>
            <a:ext cx="256032" cy="726321"/>
          </a:xfrm>
          <a:prstGeom prst="roundRect">
            <a:avLst/>
          </a:prstGeom>
          <a:solidFill>
            <a:srgbClr val="E2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</a:p>
        </p:txBody>
      </p:sp>
      <p:sp>
        <p:nvSpPr>
          <p:cNvPr id="116" name="Conclusion_D3_Bucket_3"/>
          <p:cNvSpPr/>
          <p:nvPr/>
        </p:nvSpPr>
        <p:spPr>
          <a:xfrm>
            <a:off x="6692771" y="3255009"/>
            <a:ext cx="256032" cy="732154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</a:p>
        </p:txBody>
      </p:sp>
      <p:sp>
        <p:nvSpPr>
          <p:cNvPr id="117" name="Conclusion_D3_AtomicMin"/>
          <p:cNvSpPr txBox="1"/>
          <p:nvPr/>
        </p:nvSpPr>
        <p:spPr>
          <a:xfrm>
            <a:off x="5847841" y="3994149"/>
            <a:ext cx="982219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dirty="0" err="1">
                <a:solidFill>
                  <a:srgbClr val="1485A4"/>
                </a:solidFill>
                <a:latin typeface="微软雅黑" panose="020B0503020204020204" charset="-122"/>
              </a:rPr>
              <a:t>atomicMin</a:t>
            </a:r>
            <a:endParaRPr sz="1400" b="1" dirty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127" name="Conclusion_D4_Triangle_0_0"/>
          <p:cNvSpPr/>
          <p:nvPr/>
        </p:nvSpPr>
        <p:spPr>
          <a:xfrm>
            <a:off x="8421624" y="3467862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Conclusion_D4_Triangle_0_1"/>
          <p:cNvSpPr/>
          <p:nvPr/>
        </p:nvSpPr>
        <p:spPr>
          <a:xfrm>
            <a:off x="8567928" y="3467862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Conclusion_D4_Triangle_0_2"/>
          <p:cNvSpPr/>
          <p:nvPr/>
        </p:nvSpPr>
        <p:spPr>
          <a:xfrm>
            <a:off x="8714232" y="3467862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Conclusion_D4_Triangle_0_3"/>
          <p:cNvSpPr/>
          <p:nvPr/>
        </p:nvSpPr>
        <p:spPr>
          <a:xfrm>
            <a:off x="8860536" y="3467862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Conclusion_D4_Triangle_1_0"/>
          <p:cNvSpPr/>
          <p:nvPr/>
        </p:nvSpPr>
        <p:spPr>
          <a:xfrm>
            <a:off x="8421624" y="3614166"/>
            <a:ext cx="132588" cy="13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Conclusion_D4_Triangle_1_1"/>
          <p:cNvSpPr/>
          <p:nvPr/>
        </p:nvSpPr>
        <p:spPr>
          <a:xfrm>
            <a:off x="8567928" y="3614166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Conclusion_D4_Triangle_1_2"/>
          <p:cNvSpPr/>
          <p:nvPr/>
        </p:nvSpPr>
        <p:spPr>
          <a:xfrm>
            <a:off x="8714232" y="3614166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onclusion_D4_Triangle_1_3"/>
          <p:cNvSpPr/>
          <p:nvPr/>
        </p:nvSpPr>
        <p:spPr>
          <a:xfrm>
            <a:off x="8860536" y="3614166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onclusion_D4_Triangle_2_0"/>
          <p:cNvSpPr/>
          <p:nvPr/>
        </p:nvSpPr>
        <p:spPr>
          <a:xfrm>
            <a:off x="8421624" y="3760470"/>
            <a:ext cx="132588" cy="13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onclusion_D4_Triangle_2_1"/>
          <p:cNvSpPr/>
          <p:nvPr/>
        </p:nvSpPr>
        <p:spPr>
          <a:xfrm>
            <a:off x="8567928" y="3760470"/>
            <a:ext cx="132588" cy="13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Conclusion_D4_Triangle_2_2"/>
          <p:cNvSpPr/>
          <p:nvPr/>
        </p:nvSpPr>
        <p:spPr>
          <a:xfrm>
            <a:off x="8714232" y="3760470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onclusion_D4_Triangle_2_3"/>
          <p:cNvSpPr/>
          <p:nvPr/>
        </p:nvSpPr>
        <p:spPr>
          <a:xfrm>
            <a:off x="8860536" y="3760470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Conclusion_D4_Triangle_3_0"/>
          <p:cNvSpPr/>
          <p:nvPr/>
        </p:nvSpPr>
        <p:spPr>
          <a:xfrm>
            <a:off x="8421624" y="3906773"/>
            <a:ext cx="132588" cy="13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Conclusion_D4_Triangle_3_1"/>
          <p:cNvSpPr/>
          <p:nvPr/>
        </p:nvSpPr>
        <p:spPr>
          <a:xfrm>
            <a:off x="8567928" y="3906773"/>
            <a:ext cx="132588" cy="13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onclusion_D4_Triangle_3_2"/>
          <p:cNvSpPr/>
          <p:nvPr/>
        </p:nvSpPr>
        <p:spPr>
          <a:xfrm>
            <a:off x="8714232" y="3906773"/>
            <a:ext cx="132588" cy="13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Conclusion_D4_Triangle_3_3"/>
          <p:cNvSpPr/>
          <p:nvPr/>
        </p:nvSpPr>
        <p:spPr>
          <a:xfrm>
            <a:off x="8860536" y="3906773"/>
            <a:ext cx="132588" cy="132588"/>
          </a:xfrm>
          <a:prstGeom prst="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Conclusion_D4_RowTask_0"/>
          <p:cNvSpPr/>
          <p:nvPr/>
        </p:nvSpPr>
        <p:spPr>
          <a:xfrm>
            <a:off x="9573767" y="3477006"/>
            <a:ext cx="749808" cy="100584"/>
          </a:xfrm>
          <a:prstGeom prst="round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onclusion_D4_RowTask_1"/>
          <p:cNvSpPr/>
          <p:nvPr/>
        </p:nvSpPr>
        <p:spPr>
          <a:xfrm>
            <a:off x="9573767" y="3659886"/>
            <a:ext cx="548640" cy="100584"/>
          </a:xfrm>
          <a:prstGeom prst="round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onclusion_D4_RowTask_2"/>
          <p:cNvSpPr/>
          <p:nvPr/>
        </p:nvSpPr>
        <p:spPr>
          <a:xfrm>
            <a:off x="9573767" y="3842766"/>
            <a:ext cx="356616" cy="100584"/>
          </a:xfrm>
          <a:prstGeom prst="round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Conclusion_D4_RowTask_3"/>
          <p:cNvSpPr/>
          <p:nvPr/>
        </p:nvSpPr>
        <p:spPr>
          <a:xfrm>
            <a:off x="9573767" y="4025646"/>
            <a:ext cx="201168" cy="100584"/>
          </a:xfrm>
          <a:prstGeom prst="round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onclusion_D4_SMLabel"/>
          <p:cNvSpPr txBox="1"/>
          <p:nvPr/>
        </p:nvSpPr>
        <p:spPr>
          <a:xfrm>
            <a:off x="10541635" y="3258821"/>
            <a:ext cx="1456055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5B6774"/>
                </a:solidFill>
                <a:latin typeface="微软雅黑" panose="020B0503020204020204" charset="-122"/>
              </a:rPr>
              <a:t>balanced tasks</a:t>
            </a:r>
            <a:endParaRPr sz="1200" b="1" i="0">
              <a:solidFill>
                <a:srgbClr val="5B6774"/>
              </a:solidFill>
              <a:latin typeface="微软雅黑" panose="020B0503020204020204" charset="-122"/>
            </a:endParaRPr>
          </a:p>
        </p:txBody>
      </p:sp>
      <p:sp>
        <p:nvSpPr>
          <p:cNvPr id="155" name="Conclusion_D4_SM_0"/>
          <p:cNvSpPr/>
          <p:nvPr/>
        </p:nvSpPr>
        <p:spPr>
          <a:xfrm>
            <a:off x="10725912" y="3467862"/>
            <a:ext cx="310896" cy="640080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00" b="1" i="0">
                <a:solidFill>
                  <a:srgbClr val="1485A4"/>
                </a:solidFill>
                <a:latin typeface="微软雅黑" panose="020B0503020204020204" charset="-122"/>
              </a:rPr>
              <a:t>SM0</a:t>
            </a:r>
            <a:endParaRPr sz="1100" b="1" i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156" name="Conclusion_D4_SM_1"/>
          <p:cNvSpPr/>
          <p:nvPr/>
        </p:nvSpPr>
        <p:spPr>
          <a:xfrm>
            <a:off x="11082528" y="3467862"/>
            <a:ext cx="310896" cy="640080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00" b="1" i="0">
                <a:solidFill>
                  <a:srgbClr val="1485A4"/>
                </a:solidFill>
                <a:latin typeface="微软雅黑" panose="020B0503020204020204" charset="-122"/>
              </a:rPr>
              <a:t>SM1</a:t>
            </a:r>
            <a:endParaRPr sz="1100" b="1" i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157" name="Conclusion_D4_SM_2"/>
          <p:cNvSpPr/>
          <p:nvPr/>
        </p:nvSpPr>
        <p:spPr>
          <a:xfrm>
            <a:off x="11439144" y="3467862"/>
            <a:ext cx="310896" cy="640080"/>
          </a:xfrm>
          <a:prstGeom prst="roundRect">
            <a:avLst/>
          </a:prstGeom>
          <a:solidFill>
            <a:srgbClr val="B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00" b="1" i="0">
                <a:solidFill>
                  <a:srgbClr val="1485A4"/>
                </a:solidFill>
                <a:latin typeface="微软雅黑" panose="020B0503020204020204" charset="-122"/>
              </a:rPr>
              <a:t>SM2</a:t>
            </a:r>
            <a:endParaRPr sz="1100" b="1" i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159" name="Conclusion_D3_MinMarker_0"/>
          <p:cNvSpPr/>
          <p:nvPr/>
        </p:nvSpPr>
        <p:spPr>
          <a:xfrm>
            <a:off x="5783833" y="3881082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Conclusion_D3_MinMarker_1"/>
          <p:cNvSpPr/>
          <p:nvPr/>
        </p:nvSpPr>
        <p:spPr>
          <a:xfrm>
            <a:off x="6110857" y="3308223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onclusion_D3_MinMarker_2"/>
          <p:cNvSpPr/>
          <p:nvPr/>
        </p:nvSpPr>
        <p:spPr>
          <a:xfrm>
            <a:off x="6441311" y="3712032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Conclusion_D3_MinMarker_3"/>
          <p:cNvSpPr/>
          <p:nvPr/>
        </p:nvSpPr>
        <p:spPr>
          <a:xfrm>
            <a:off x="6762997" y="3504694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Conclusion_D1_Line_Hash"/>
          <p:cNvSpPr/>
          <p:nvPr/>
        </p:nvSpPr>
        <p:spPr>
          <a:xfrm rot="20664078">
            <a:off x="4968975" y="1594602"/>
            <a:ext cx="425201" cy="45719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clusion_D1_Merge"/>
          <p:cNvSpPr/>
          <p:nvPr/>
        </p:nvSpPr>
        <p:spPr>
          <a:xfrm>
            <a:off x="5352035" y="1374635"/>
            <a:ext cx="1078992" cy="347472"/>
          </a:xfrm>
          <a:prstGeom prst="roundRect">
            <a:avLst/>
          </a:prstGeom>
          <a:solidFill>
            <a:srgbClr val="B8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50" b="1" i="0">
                <a:solidFill>
                  <a:srgbClr val="0D77C3"/>
                </a:solidFill>
                <a:latin typeface="微软雅黑" panose="020B0503020204020204" charset="-122"/>
              </a:rPr>
              <a:t>MERGE</a:t>
            </a:r>
            <a:endParaRPr sz="1150" b="1" i="0">
              <a:solidFill>
                <a:srgbClr val="0D77C3"/>
              </a:solidFill>
              <a:latin typeface="微软雅黑" panose="020B0503020204020204" charset="-122"/>
            </a:endParaRPr>
          </a:p>
        </p:txBody>
      </p:sp>
      <p:sp>
        <p:nvSpPr>
          <p:cNvPr id="15" name="Conclusion_D1_Diamond"/>
          <p:cNvSpPr/>
          <p:nvPr/>
        </p:nvSpPr>
        <p:spPr>
          <a:xfrm>
            <a:off x="4618228" y="1544383"/>
            <a:ext cx="502920" cy="502920"/>
          </a:xfrm>
          <a:prstGeom prst="diamond">
            <a:avLst/>
          </a:prstGeom>
          <a:solidFill>
            <a:srgbClr val="1485A4"/>
          </a:solidFill>
          <a:ln>
            <a:solidFill>
              <a:srgbClr val="148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直接连接符 4"/>
          <p:cNvCxnSpPr/>
          <p:nvPr/>
        </p:nvCxnSpPr>
        <p:spPr>
          <a:xfrm>
            <a:off x="5717795" y="3634568"/>
            <a:ext cx="1228978" cy="2968"/>
          </a:xfrm>
          <a:prstGeom prst="line">
            <a:avLst/>
          </a:prstGeom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5717795" y="3434922"/>
            <a:ext cx="1228978" cy="2968"/>
          </a:xfrm>
          <a:prstGeom prst="line">
            <a:avLst/>
          </a:prstGeom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719825" y="3809294"/>
            <a:ext cx="1228978" cy="2968"/>
          </a:xfrm>
          <a:prstGeom prst="line">
            <a:avLst/>
          </a:prstGeom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Conclusion_D3_Bucket_3"/>
          <p:cNvSpPr/>
          <p:nvPr/>
        </p:nvSpPr>
        <p:spPr>
          <a:xfrm>
            <a:off x="7467855" y="3233783"/>
            <a:ext cx="256032" cy="732154"/>
          </a:xfrm>
          <a:prstGeom prst="roundRect">
            <a:avLst/>
          </a:prstGeom>
          <a:solidFill>
            <a:srgbClr val="66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endParaRPr dirty="0">
              <a:solidFill>
                <a:srgbClr val="00B0F0"/>
              </a:solidFill>
            </a:endParaRPr>
          </a:p>
        </p:txBody>
      </p:sp>
      <p:sp>
        <p:nvSpPr>
          <p:cNvPr id="38" name="Conclusion_D3_HashLine"/>
          <p:cNvSpPr/>
          <p:nvPr/>
        </p:nvSpPr>
        <p:spPr>
          <a:xfrm>
            <a:off x="7002110" y="3618867"/>
            <a:ext cx="292611" cy="45719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nclusion_D3_HashArrow"/>
          <p:cNvSpPr/>
          <p:nvPr/>
        </p:nvSpPr>
        <p:spPr>
          <a:xfrm rot="5400000">
            <a:off x="7226331" y="3547620"/>
            <a:ext cx="164592" cy="164592"/>
          </a:xfrm>
          <a:prstGeom prst="triangle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直接连接符 39"/>
          <p:cNvCxnSpPr/>
          <p:nvPr/>
        </p:nvCxnSpPr>
        <p:spPr>
          <a:xfrm>
            <a:off x="7458838" y="3403294"/>
            <a:ext cx="265937" cy="0"/>
          </a:xfrm>
          <a:prstGeom prst="line">
            <a:avLst/>
          </a:prstGeom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7481824" y="3608655"/>
            <a:ext cx="265937" cy="0"/>
          </a:xfrm>
          <a:prstGeom prst="line">
            <a:avLst/>
          </a:prstGeom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7481824" y="3802201"/>
            <a:ext cx="265937" cy="0"/>
          </a:xfrm>
          <a:prstGeom prst="line">
            <a:avLst/>
          </a:prstGeom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Conclusion_D3_MinMarker_3"/>
          <p:cNvSpPr/>
          <p:nvPr/>
        </p:nvSpPr>
        <p:spPr>
          <a:xfrm>
            <a:off x="7532623" y="3301428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nclusion_D3_MinMarker_3"/>
          <p:cNvSpPr/>
          <p:nvPr/>
        </p:nvSpPr>
        <p:spPr>
          <a:xfrm>
            <a:off x="7532623" y="3480118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onclusion_D3_MinMarker_3"/>
          <p:cNvSpPr/>
          <p:nvPr/>
        </p:nvSpPr>
        <p:spPr>
          <a:xfrm>
            <a:off x="7522305" y="3682619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onclusion_D3_MinMarker_3"/>
          <p:cNvSpPr/>
          <p:nvPr/>
        </p:nvSpPr>
        <p:spPr>
          <a:xfrm>
            <a:off x="7526273" y="3868039"/>
            <a:ext cx="128016" cy="50292"/>
          </a:xfrm>
          <a:prstGeom prst="round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onclusion_D3_AtomicMin"/>
          <p:cNvSpPr txBox="1"/>
          <p:nvPr/>
        </p:nvSpPr>
        <p:spPr>
          <a:xfrm>
            <a:off x="7083233" y="3982779"/>
            <a:ext cx="98221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1485A4"/>
                </a:solidFill>
                <a:latin typeface="微软雅黑" panose="020B0503020204020204" charset="-122"/>
              </a:rPr>
              <a:t>C[</a:t>
            </a:r>
            <a:r>
              <a:rPr lang="en-US" sz="1000" b="1" dirty="0" err="1">
                <a:solidFill>
                  <a:srgbClr val="1485A4"/>
                </a:solidFill>
                <a:latin typeface="微软雅黑" panose="020B0503020204020204" charset="-122"/>
              </a:rPr>
              <a:t>i</a:t>
            </a:r>
            <a:r>
              <a:rPr lang="en-US" sz="1000" b="1" dirty="0">
                <a:solidFill>
                  <a:srgbClr val="1485A4"/>
                </a:solidFill>
                <a:latin typeface="微软雅黑" panose="020B0503020204020204" charset="-122"/>
              </a:rPr>
              <a:t>,;]</a:t>
            </a:r>
            <a:endParaRPr lang="en-US" sz="1000" b="1" dirty="0">
              <a:solidFill>
                <a:srgbClr val="1485A4"/>
              </a:solidFill>
              <a:latin typeface="微软雅黑" panose="020B0503020204020204" charset="-122"/>
            </a:endParaRPr>
          </a:p>
          <a:p>
            <a:pPr algn="ctr"/>
            <a:r>
              <a:rPr lang="en-US" sz="1000" b="1" dirty="0">
                <a:solidFill>
                  <a:srgbClr val="1485A4"/>
                </a:solidFill>
                <a:latin typeface="微软雅黑" panose="020B0503020204020204" charset="-122"/>
              </a:rPr>
              <a:t>sketch</a:t>
            </a:r>
            <a:endParaRPr sz="1000" b="1" dirty="0">
              <a:solidFill>
                <a:srgbClr val="1485A4"/>
              </a:solidFill>
              <a:latin typeface="微软雅黑" panose="020B0503020204020204" charset="-122"/>
            </a:endParaRPr>
          </a:p>
        </p:txBody>
      </p:sp>
      <p:sp>
        <p:nvSpPr>
          <p:cNvPr id="51" name="Conclusion_D3_HashLine"/>
          <p:cNvSpPr/>
          <p:nvPr/>
        </p:nvSpPr>
        <p:spPr>
          <a:xfrm>
            <a:off x="1542224" y="3491992"/>
            <a:ext cx="292611" cy="45719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onclusion_D3_HashArrow"/>
          <p:cNvSpPr/>
          <p:nvPr/>
        </p:nvSpPr>
        <p:spPr>
          <a:xfrm rot="5400000">
            <a:off x="1766445" y="3428365"/>
            <a:ext cx="164592" cy="164592"/>
          </a:xfrm>
          <a:prstGeom prst="triangle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onclusion_D2_BucketItem_0_0"/>
          <p:cNvSpPr/>
          <p:nvPr/>
        </p:nvSpPr>
        <p:spPr>
          <a:xfrm>
            <a:off x="2374960" y="3552221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56" name="Conclusion_D2_BucketItem_0_0"/>
          <p:cNvSpPr/>
          <p:nvPr/>
        </p:nvSpPr>
        <p:spPr>
          <a:xfrm>
            <a:off x="2606883" y="3555746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onclusion_D2_BucketItem_0_1"/>
          <p:cNvSpPr/>
          <p:nvPr/>
        </p:nvSpPr>
        <p:spPr>
          <a:xfrm>
            <a:off x="2729484" y="3555174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onclusion_D2_BucketItem_0_0"/>
          <p:cNvSpPr/>
          <p:nvPr/>
        </p:nvSpPr>
        <p:spPr>
          <a:xfrm>
            <a:off x="2857482" y="3552221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59" name="Conclusion_D2_BucketItem_0_0"/>
          <p:cNvSpPr/>
          <p:nvPr/>
        </p:nvSpPr>
        <p:spPr>
          <a:xfrm>
            <a:off x="3090474" y="3552971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onclusion_D2_BucketItem_0_1"/>
          <p:cNvSpPr/>
          <p:nvPr/>
        </p:nvSpPr>
        <p:spPr>
          <a:xfrm>
            <a:off x="3213075" y="3552399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onclusion_D2_BucketItem_0_0"/>
          <p:cNvSpPr/>
          <p:nvPr/>
        </p:nvSpPr>
        <p:spPr>
          <a:xfrm>
            <a:off x="3341073" y="3549446"/>
            <a:ext cx="9144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62" name="Conclusion_D3_HashLine"/>
          <p:cNvSpPr/>
          <p:nvPr/>
        </p:nvSpPr>
        <p:spPr>
          <a:xfrm>
            <a:off x="9093195" y="3728085"/>
            <a:ext cx="292611" cy="45719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onclusion_D3_HashArrow"/>
          <p:cNvSpPr/>
          <p:nvPr/>
        </p:nvSpPr>
        <p:spPr>
          <a:xfrm rot="5400000">
            <a:off x="9317416" y="3664458"/>
            <a:ext cx="164592" cy="164592"/>
          </a:xfrm>
          <a:prstGeom prst="triangle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onclusion_D3_HashLine"/>
          <p:cNvSpPr/>
          <p:nvPr/>
        </p:nvSpPr>
        <p:spPr>
          <a:xfrm>
            <a:off x="10317158" y="3723894"/>
            <a:ext cx="292611" cy="45719"/>
          </a:xfrm>
          <a:prstGeom prst="rect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onclusion_D3_HashArrow"/>
          <p:cNvSpPr/>
          <p:nvPr/>
        </p:nvSpPr>
        <p:spPr>
          <a:xfrm rot="5400000">
            <a:off x="10541379" y="3660267"/>
            <a:ext cx="164592" cy="164592"/>
          </a:xfrm>
          <a:prstGeom prst="triangle">
            <a:avLst/>
          </a:prstGeom>
          <a:solidFill>
            <a:srgbClr val="14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nclusion_Header_2"/>
          <p:cNvSpPr/>
          <p:nvPr/>
        </p:nvSpPr>
        <p:spPr>
          <a:xfrm>
            <a:off x="3875405" y="4595495"/>
            <a:ext cx="4429760" cy="413385"/>
          </a:xfrm>
          <a:prstGeom prst="roundRect">
            <a:avLst/>
          </a:prstGeom>
          <a:solidFill>
            <a:srgbClr val="0D77C3"/>
          </a:solidFill>
          <a:ln w="11430">
            <a:solidFill>
              <a:srgbClr val="0D7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bIns="0" rtlCol="0" anchor="ctr"/>
          <a:lstStyle/>
          <a:p>
            <a:pPr algn="ctr"/>
            <a:r>
              <a:rPr lang="en-US" sz="2400" b="1" i="0">
                <a:solidFill>
                  <a:schemeClr val="bg1"/>
                </a:solidFill>
                <a:latin typeface="微软雅黑" panose="020B0503020204020204" charset="-122"/>
              </a:rPr>
              <a:t>OVERALL RESULT</a:t>
            </a:r>
            <a:endParaRPr lang="en-US" sz="2400" b="1" i="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: 圆角 4"/>
          <p:cNvSpPr/>
          <p:nvPr>
            <p:custDataLst>
              <p:tags r:id="rId1"/>
            </p:custDataLst>
          </p:nvPr>
        </p:nvSpPr>
        <p:spPr>
          <a:xfrm>
            <a:off x="6553835" y="4982210"/>
            <a:ext cx="5479415" cy="161163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79" name="矩形: 圆角 4"/>
          <p:cNvSpPr/>
          <p:nvPr>
            <p:custDataLst>
              <p:tags r:id="rId2"/>
            </p:custDataLst>
          </p:nvPr>
        </p:nvSpPr>
        <p:spPr>
          <a:xfrm>
            <a:off x="6553835" y="1061720"/>
            <a:ext cx="5479415" cy="359473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899650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261D8B3-0104-4129-817E-1C07D6A99DE4}" type="slidenum">
              <a:rPr lang="zh-CN" altLang="en-US" sz="1400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6362"/>
          <a:stretch>
            <a:fillRect/>
          </a:stretch>
        </p:blipFill>
        <p:spPr>
          <a:xfrm>
            <a:off x="11141111" y="0"/>
            <a:ext cx="804015" cy="71993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288290" y="30480"/>
            <a:ext cx="10709856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Engineering Optimizations</a:t>
            </a:r>
            <a:endParaRPr kumimoji="1"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4"/>
          <p:cNvSpPr/>
          <p:nvPr>
            <p:custDataLst>
              <p:tags r:id="rId6"/>
            </p:custDataLst>
          </p:nvPr>
        </p:nvSpPr>
        <p:spPr>
          <a:xfrm>
            <a:off x="140335" y="1206500"/>
            <a:ext cx="6152515" cy="538797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39" name="矩形: 圆角 38"/>
          <p:cNvSpPr/>
          <p:nvPr>
            <p:custDataLst>
              <p:tags r:id="rId7"/>
            </p:custDataLst>
          </p:nvPr>
        </p:nvSpPr>
        <p:spPr>
          <a:xfrm>
            <a:off x="140335" y="827405"/>
            <a:ext cx="6152515" cy="54356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Pinned-Memory Pool for h2d/d2h 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: 圆角 38"/>
          <p:cNvSpPr/>
          <p:nvPr>
            <p:custDataLst>
              <p:tags r:id="rId8"/>
            </p:custDataLst>
          </p:nvPr>
        </p:nvSpPr>
        <p:spPr>
          <a:xfrm>
            <a:off x="1596390" y="1470660"/>
            <a:ext cx="863600" cy="40068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symbolic/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sizing 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矩形: 圆角 38"/>
          <p:cNvSpPr/>
          <p:nvPr>
            <p:custDataLst>
              <p:tags r:id="rId9"/>
            </p:custDataLst>
          </p:nvPr>
        </p:nvSpPr>
        <p:spPr>
          <a:xfrm>
            <a:off x="6553835" y="827405"/>
            <a:ext cx="5479415" cy="54356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Kernel-Fusion 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: 圆角 38"/>
          <p:cNvSpPr/>
          <p:nvPr>
            <p:custDataLst>
              <p:tags r:id="rId10"/>
            </p:custDataLst>
          </p:nvPr>
        </p:nvSpPr>
        <p:spPr>
          <a:xfrm>
            <a:off x="351790" y="1470660"/>
            <a:ext cx="1061085" cy="400685"/>
          </a:xfrm>
          <a:prstGeom prst="roundRect">
            <a:avLst/>
          </a:prstGeom>
          <a:solidFill>
            <a:srgbClr val="FFD3D3"/>
          </a:solidFill>
          <a:ln w="19050" cmpd="sng" algn="ctr">
            <a:solidFill>
              <a:srgbClr val="C00000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h2d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download A 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矩形: 圆角 38"/>
          <p:cNvSpPr/>
          <p:nvPr>
            <p:custDataLst>
              <p:tags r:id="rId11"/>
            </p:custDataLst>
          </p:nvPr>
        </p:nvSpPr>
        <p:spPr>
          <a:xfrm>
            <a:off x="2643505" y="1470660"/>
            <a:ext cx="1053465" cy="40068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rtlCol="0" anchor="ctr">
            <a:noAutofit/>
          </a:bodyPr>
          <a:lstStyle/>
          <a:p>
            <a:pPr lvl="0" algn="ctr" rtl="1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accumulate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38"/>
          <p:cNvSpPr/>
          <p:nvPr>
            <p:custDataLst>
              <p:tags r:id="rId12"/>
            </p:custDataLst>
          </p:nvPr>
        </p:nvSpPr>
        <p:spPr>
          <a:xfrm>
            <a:off x="3880485" y="1470660"/>
            <a:ext cx="890905" cy="40068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rtlCol="0" anchor="ctr">
            <a:noAutofit/>
          </a:bodyPr>
          <a:lstStyle/>
          <a:p>
            <a:pPr lvl="0" algn="ctr" rtl="1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extract/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rtl="1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sort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矩形: 圆角 38"/>
          <p:cNvSpPr/>
          <p:nvPr>
            <p:custDataLst>
              <p:tags r:id="rId13"/>
            </p:custDataLst>
          </p:nvPr>
        </p:nvSpPr>
        <p:spPr>
          <a:xfrm>
            <a:off x="4954905" y="1470660"/>
            <a:ext cx="1061085" cy="400685"/>
          </a:xfrm>
          <a:prstGeom prst="roundRect">
            <a:avLst/>
          </a:prstGeom>
          <a:solidFill>
            <a:srgbClr val="FFD3D3"/>
          </a:solidFill>
          <a:ln w="19050" cmpd="sng" algn="ctr">
            <a:solidFill>
              <a:srgbClr val="C00000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d2h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upload A 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9" name="直接箭头连接符 18"/>
          <p:cNvCxnSpPr>
            <a:stCxn id="11" idx="2"/>
            <a:endCxn id="21" idx="1"/>
          </p:cNvCxnSpPr>
          <p:nvPr/>
        </p:nvCxnSpPr>
        <p:spPr>
          <a:xfrm>
            <a:off x="882650" y="1871345"/>
            <a:ext cx="1148080" cy="32766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5" idx="2"/>
            <a:endCxn id="21" idx="3"/>
          </p:cNvCxnSpPr>
          <p:nvPr/>
        </p:nvCxnSpPr>
        <p:spPr>
          <a:xfrm flipH="1">
            <a:off x="4403090" y="1871345"/>
            <a:ext cx="1082675" cy="32766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: 圆角 38"/>
          <p:cNvSpPr/>
          <p:nvPr>
            <p:custDataLst>
              <p:tags r:id="rId14"/>
            </p:custDataLst>
          </p:nvPr>
        </p:nvSpPr>
        <p:spPr>
          <a:xfrm>
            <a:off x="2030730" y="1998345"/>
            <a:ext cx="2372360" cy="400685"/>
          </a:xfrm>
          <a:prstGeom prst="roundRect">
            <a:avLst/>
          </a:prstGeom>
          <a:solidFill>
            <a:srgbClr val="FFD3D3"/>
          </a:solidFill>
          <a:ln w="19050" cmpd="sng" algn="ctr">
            <a:solidFill>
              <a:srgbClr val="C00000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cudaMallocHost + 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cudaFreeHost (lock&amp;unlock)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2483485" y="1594485"/>
            <a:ext cx="149225" cy="1492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3723005" y="1593850"/>
            <a:ext cx="149225" cy="1492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4792980" y="1594485"/>
            <a:ext cx="149225" cy="1492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矩形: 圆角 4"/>
          <p:cNvSpPr/>
          <p:nvPr>
            <p:custDataLst>
              <p:tags r:id="rId15"/>
            </p:custDataLst>
          </p:nvPr>
        </p:nvSpPr>
        <p:spPr>
          <a:xfrm>
            <a:off x="240030" y="2482850"/>
            <a:ext cx="5942330" cy="132334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26" name="矩形: 圆角 38"/>
          <p:cNvSpPr/>
          <p:nvPr>
            <p:custDataLst>
              <p:tags r:id="rId16"/>
            </p:custDataLst>
          </p:nvPr>
        </p:nvSpPr>
        <p:spPr>
          <a:xfrm>
            <a:off x="351790" y="2336165"/>
            <a:ext cx="734695" cy="291465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Prior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矩形: 圆角 38"/>
          <p:cNvSpPr/>
          <p:nvPr>
            <p:custDataLst>
              <p:tags r:id="rId17"/>
            </p:custDataLst>
          </p:nvPr>
        </p:nvSpPr>
        <p:spPr>
          <a:xfrm>
            <a:off x="351790" y="2688590"/>
            <a:ext cx="1224280" cy="400685"/>
          </a:xfrm>
          <a:prstGeom prst="roundRect">
            <a:avLst/>
          </a:prstGeom>
          <a:solidFill>
            <a:srgbClr val="FFD3D3"/>
          </a:solidFill>
          <a:ln w="19050" cmpd="sng" algn="ctr">
            <a:solidFill>
              <a:srgbClr val="C00000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cudaMallocHost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(pin page)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矩形: 圆角 38"/>
          <p:cNvSpPr/>
          <p:nvPr>
            <p:custDataLst>
              <p:tags r:id="rId18"/>
            </p:custDataLst>
          </p:nvPr>
        </p:nvSpPr>
        <p:spPr>
          <a:xfrm>
            <a:off x="1854200" y="2688590"/>
            <a:ext cx="778510" cy="40068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hostbuf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(pagebale)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矩形: 圆角 38"/>
          <p:cNvSpPr/>
          <p:nvPr>
            <p:custDataLst>
              <p:tags r:id="rId19"/>
            </p:custDataLst>
          </p:nvPr>
        </p:nvSpPr>
        <p:spPr>
          <a:xfrm>
            <a:off x="3459480" y="2688590"/>
            <a:ext cx="778510" cy="4006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2"/>
            </a:solidFill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GPU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矩形: 圆角 38"/>
          <p:cNvSpPr/>
          <p:nvPr>
            <p:custDataLst>
              <p:tags r:id="rId20"/>
            </p:custDataLst>
          </p:nvPr>
        </p:nvSpPr>
        <p:spPr>
          <a:xfrm>
            <a:off x="4777105" y="2688590"/>
            <a:ext cx="1224280" cy="400685"/>
          </a:xfrm>
          <a:prstGeom prst="roundRect">
            <a:avLst/>
          </a:prstGeom>
          <a:solidFill>
            <a:srgbClr val="FFD3D3"/>
          </a:solidFill>
          <a:ln w="19050" cmpd="sng" algn="ctr">
            <a:solidFill>
              <a:srgbClr val="C00000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cudaFreeHost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(unpin page)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右箭头 33"/>
          <p:cNvSpPr/>
          <p:nvPr/>
        </p:nvSpPr>
        <p:spPr>
          <a:xfrm>
            <a:off x="1618615" y="2858135"/>
            <a:ext cx="197485" cy="952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右箭头 34"/>
          <p:cNvSpPr/>
          <p:nvPr/>
        </p:nvSpPr>
        <p:spPr>
          <a:xfrm>
            <a:off x="2675890" y="2858135"/>
            <a:ext cx="735965" cy="952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右箭头 35"/>
          <p:cNvSpPr/>
          <p:nvPr/>
        </p:nvSpPr>
        <p:spPr>
          <a:xfrm>
            <a:off x="4285615" y="2858135"/>
            <a:ext cx="443865" cy="9525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00325" y="2689225"/>
            <a:ext cx="887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PCIe Transfer</a:t>
            </a:r>
            <a:endParaRPr lang="en-US" altLang="zh-CN" sz="900" b="1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cxnSp>
        <p:nvCxnSpPr>
          <p:cNvPr id="41" name="肘形连接符 40"/>
          <p:cNvCxnSpPr/>
          <p:nvPr/>
        </p:nvCxnSpPr>
        <p:spPr>
          <a:xfrm rot="5400000">
            <a:off x="3176270" y="882650"/>
            <a:ext cx="3175" cy="4425315"/>
          </a:xfrm>
          <a:prstGeom prst="bentConnector3">
            <a:avLst>
              <a:gd name="adj1" fmla="val 714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2352675" y="3094990"/>
                <a:ext cx="159131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rgbClr val="C0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repeats </a:t>
                </a:r>
                <a14:m>
                  <m:oMath xmlns:m="http://schemas.openxmlformats.org/officeDocument/2006/math">
                    <m:r>
                      <a:rPr lang="en-US" altLang="zh-CN" sz="1100" b="1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</m:oMath>
                </a14:m>
                <a:r>
                  <a:rPr lang="en-US" altLang="zh-CN" sz="1100" b="1">
                    <a:solidFill>
                      <a:srgbClr val="C0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N transfers</a:t>
                </a:r>
                <a:endParaRPr lang="en-US" altLang="zh-CN" sz="1100" b="1">
                  <a:solidFill>
                    <a:srgbClr val="C0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675" y="3094990"/>
                <a:ext cx="1591310" cy="260350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圆角矩形 42"/>
          <p:cNvSpPr/>
          <p:nvPr/>
        </p:nvSpPr>
        <p:spPr>
          <a:xfrm>
            <a:off x="965835" y="3400425"/>
            <a:ext cx="4424045" cy="3397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48080" y="3403600"/>
            <a:ext cx="41948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Every h2d/d2h pays a page-lock syscall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: 圆角 4"/>
          <p:cNvSpPr/>
          <p:nvPr>
            <p:custDataLst>
              <p:tags r:id="rId22"/>
            </p:custDataLst>
          </p:nvPr>
        </p:nvSpPr>
        <p:spPr>
          <a:xfrm>
            <a:off x="240030" y="4051300"/>
            <a:ext cx="5942330" cy="2456180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46" name="矩形: 圆角 38"/>
          <p:cNvSpPr/>
          <p:nvPr>
            <p:custDataLst>
              <p:tags r:id="rId23"/>
            </p:custDataLst>
          </p:nvPr>
        </p:nvSpPr>
        <p:spPr>
          <a:xfrm>
            <a:off x="351790" y="3904615"/>
            <a:ext cx="734695" cy="291465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Ours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矩形: 圆角 38"/>
          <p:cNvSpPr/>
          <p:nvPr>
            <p:custDataLst>
              <p:tags r:id="rId24"/>
            </p:custDataLst>
          </p:nvPr>
        </p:nvSpPr>
        <p:spPr>
          <a:xfrm>
            <a:off x="1029335" y="4335145"/>
            <a:ext cx="4749165" cy="248920"/>
          </a:xfrm>
          <a:prstGeom prst="roundRect">
            <a:avLst/>
          </a:prstGeom>
          <a:solidFill>
            <a:srgbClr val="C7E5EB"/>
          </a:solidFill>
          <a:ln w="19050" cmpd="sng" algn="ctr">
            <a:solidFill>
              <a:srgbClr val="0D77C3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t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矩形: 圆角 38"/>
          <p:cNvSpPr/>
          <p:nvPr>
            <p:custDataLst>
              <p:tags r:id="rId25"/>
            </p:custDataLst>
          </p:nvPr>
        </p:nvSpPr>
        <p:spPr>
          <a:xfrm>
            <a:off x="453390" y="4776470"/>
            <a:ext cx="937260" cy="635635"/>
          </a:xfrm>
          <a:prstGeom prst="roundRect">
            <a:avLst/>
          </a:prstGeom>
          <a:solidFill>
            <a:srgbClr val="E5F2F5"/>
          </a:solidFill>
          <a:ln w="19050" cmpd="sng" algn="ctr">
            <a:solidFill>
              <a:srgbClr val="A6D5DE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ctr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pool.get()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ctr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O(1) bump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415415" y="4061460"/>
            <a:ext cx="4076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1485A4"/>
                </a:solidFill>
              </a:rPr>
              <a:t>Pinned Pool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(Init Allocate &amp; Page Lock </a:t>
            </a:r>
            <a:r>
              <a:rPr lang="en-US" altLang="zh-CN" sz="1400" b="1">
                <a:solidFill>
                  <a:srgbClr val="1485A4"/>
                </a:solidFill>
              </a:rPr>
              <a:t>ONCE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152525" y="438150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565275" y="438023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978025" y="438023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384425" y="438150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824480" y="438150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237230" y="438023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649980" y="438023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56380" y="438150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504690" y="438277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923790" y="438150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36540" y="4381500"/>
            <a:ext cx="285750" cy="152400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4" name="右箭头 63"/>
          <p:cNvSpPr/>
          <p:nvPr/>
        </p:nvSpPr>
        <p:spPr>
          <a:xfrm>
            <a:off x="1433195" y="1596390"/>
            <a:ext cx="149225" cy="1492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矩形: 圆角 38"/>
          <p:cNvSpPr/>
          <p:nvPr>
            <p:custDataLst>
              <p:tags r:id="rId26"/>
            </p:custDataLst>
          </p:nvPr>
        </p:nvSpPr>
        <p:spPr>
          <a:xfrm>
            <a:off x="1720850" y="4776470"/>
            <a:ext cx="962025" cy="6356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cmpd="sng" algn="ctr">
            <a:solidFill>
              <a:srgbClr val="A6D5DE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ctr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pinned buf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ctr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(lock)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右箭头 66"/>
          <p:cNvSpPr/>
          <p:nvPr/>
        </p:nvSpPr>
        <p:spPr>
          <a:xfrm>
            <a:off x="2734310" y="4982210"/>
            <a:ext cx="1090295" cy="22352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809875" y="4867910"/>
            <a:ext cx="887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charset="0"/>
                <a:cs typeface="Cambria Math" panose="02040503050406030204" charset="0"/>
              </a:rPr>
              <a:t>PCIe Transfer</a:t>
            </a:r>
            <a:endParaRPr lang="en-US" altLang="zh-CN" sz="900" b="1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000375" y="5091430"/>
            <a:ext cx="5746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solidFill>
                  <a:srgbClr val="1485A4"/>
                </a:solidFill>
                <a:latin typeface="Cambria Math" panose="02040503050406030204" charset="0"/>
                <a:cs typeface="Cambria Math" panose="02040503050406030204" charset="0"/>
              </a:rPr>
              <a:t>async</a:t>
            </a:r>
            <a:endParaRPr lang="en-US" altLang="zh-CN" sz="1000" b="1">
              <a:solidFill>
                <a:srgbClr val="1485A4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70" name="矩形: 圆角 38"/>
          <p:cNvSpPr/>
          <p:nvPr>
            <p:custDataLst>
              <p:tags r:id="rId27"/>
            </p:custDataLst>
          </p:nvPr>
        </p:nvSpPr>
        <p:spPr>
          <a:xfrm>
            <a:off x="3891915" y="4776470"/>
            <a:ext cx="714375" cy="6356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cmpd="sng" algn="ctr">
            <a:solidFill>
              <a:srgbClr val="A6D5DE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ctr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GPU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右箭头 70"/>
          <p:cNvSpPr/>
          <p:nvPr/>
        </p:nvSpPr>
        <p:spPr>
          <a:xfrm>
            <a:off x="1449705" y="4982210"/>
            <a:ext cx="231140" cy="22352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73" name="直接箭头连接符 72"/>
          <p:cNvCxnSpPr>
            <a:stCxn id="52" idx="2"/>
          </p:cNvCxnSpPr>
          <p:nvPr/>
        </p:nvCxnSpPr>
        <p:spPr>
          <a:xfrm flipH="1">
            <a:off x="904240" y="4533900"/>
            <a:ext cx="391160" cy="234950"/>
          </a:xfrm>
          <a:prstGeom prst="straightConnector1">
            <a:avLst/>
          </a:prstGeom>
          <a:ln>
            <a:solidFill>
              <a:srgbClr val="1485A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矩形: 圆角 38"/>
          <p:cNvSpPr/>
          <p:nvPr>
            <p:custDataLst>
              <p:tags r:id="rId28"/>
            </p:custDataLst>
          </p:nvPr>
        </p:nvSpPr>
        <p:spPr>
          <a:xfrm>
            <a:off x="4942840" y="4776470"/>
            <a:ext cx="1005205" cy="635635"/>
          </a:xfrm>
          <a:prstGeom prst="roundRect">
            <a:avLst/>
          </a:prstGeom>
          <a:solidFill>
            <a:srgbClr val="E5F2F5"/>
          </a:solidFill>
          <a:ln w="19050" cmpd="sng" algn="ctr">
            <a:solidFill>
              <a:srgbClr val="A6D5DE"/>
            </a:solidFill>
            <a:prstDash val="solid"/>
            <a:round/>
          </a:ln>
        </p:spPr>
        <p:txBody>
          <a:bodyPr wrap="none" lIns="162000" rtlCol="0" anchor="ctr">
            <a:noAutofit/>
          </a:bodyPr>
          <a:lstStyle/>
          <a:p>
            <a:pPr lvl="0" algn="ctr" fontAlgn="ctr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pool.return()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ctr">
              <a:lnSpc>
                <a:spcPct val="100000"/>
              </a:lnSpc>
              <a:buClrTx/>
              <a:buSzPct val="80000"/>
              <a:buFont typeface="Wingdings" panose="05000000000000000000" pitchFamily="2" charset="2"/>
            </a:pP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(no-op)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右箭头 75"/>
          <p:cNvSpPr/>
          <p:nvPr/>
        </p:nvSpPr>
        <p:spPr>
          <a:xfrm>
            <a:off x="4652645" y="4982210"/>
            <a:ext cx="260985" cy="22352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" lastClr="FFFFFF">
                <a:lumMod val="65000"/>
              </a:sysClr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453390" y="5540375"/>
            <a:ext cx="5494020" cy="7880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589280" y="5565775"/>
            <a:ext cx="5255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Zero page-lock syscalls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in the transfer loop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- DMA direct over PCle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000" b="1">
                <a:solidFill>
                  <a:srgbClr val="1485A4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58.7 - 9.2 ms (bcsstk30) 9.4 - 1.9 ms (bcsstk17) 1.84 - 0.91 ms (bcsstk11)</a:t>
            </a:r>
            <a:endParaRPr lang="en-US" altLang="zh-CN" sz="1000" b="1">
              <a:solidFill>
                <a:srgbClr val="1485A4"/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591935" y="1423670"/>
            <a:ext cx="42011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C00000"/>
                </a:solidFill>
              </a:rPr>
              <a:t>Before: many separate kernels:</a:t>
            </a:r>
            <a:endParaRPr lang="en-US" altLang="zh-CN" sz="1400" b="1">
              <a:solidFill>
                <a:srgbClr val="C00000"/>
              </a:solidFill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23400" y="1385570"/>
            <a:ext cx="2515235" cy="361950"/>
          </a:xfrm>
          <a:prstGeom prst="rect">
            <a:avLst/>
          </a:prstGeom>
        </p:spPr>
      </p:pic>
      <p:sp>
        <p:nvSpPr>
          <p:cNvPr id="85" name="矩形 84"/>
          <p:cNvSpPr/>
          <p:nvPr/>
        </p:nvSpPr>
        <p:spPr>
          <a:xfrm>
            <a:off x="6792595" y="2060575"/>
            <a:ext cx="483235" cy="360045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275830" y="206057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本框 87"/>
              <p:cNvSpPr txBox="1"/>
              <p:nvPr/>
            </p:nvSpPr>
            <p:spPr>
              <a:xfrm>
                <a:off x="6785610" y="184912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8" name="文本框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610" y="1849120"/>
                <a:ext cx="660400" cy="260350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 88"/>
          <p:cNvSpPr/>
          <p:nvPr/>
        </p:nvSpPr>
        <p:spPr>
          <a:xfrm>
            <a:off x="7639050" y="2060575"/>
            <a:ext cx="483235" cy="360045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122285" y="206057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7632065" y="184912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065" y="1849120"/>
                <a:ext cx="660400" cy="26035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矩形 91"/>
          <p:cNvSpPr/>
          <p:nvPr/>
        </p:nvSpPr>
        <p:spPr>
          <a:xfrm>
            <a:off x="8481695" y="2060575"/>
            <a:ext cx="483235" cy="360045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964930" y="206057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/>
              <p:cNvSpPr txBox="1"/>
              <p:nvPr/>
            </p:nvSpPr>
            <p:spPr>
              <a:xfrm>
                <a:off x="8474710" y="184912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710" y="1849120"/>
                <a:ext cx="660400" cy="260350"/>
              </a:xfrm>
              <a:prstGeom prst="rect">
                <a:avLst/>
              </a:prstGeom>
              <a:blipFill rotWithShape="1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矩形 94"/>
          <p:cNvSpPr/>
          <p:nvPr/>
        </p:nvSpPr>
        <p:spPr>
          <a:xfrm>
            <a:off x="9312910" y="2060575"/>
            <a:ext cx="483235" cy="360045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9796145" y="206057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/>
              <p:cNvSpPr txBox="1"/>
              <p:nvPr/>
            </p:nvSpPr>
            <p:spPr>
              <a:xfrm>
                <a:off x="9305925" y="184912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7" name="文本框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925" y="1849120"/>
                <a:ext cx="660400" cy="260350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矩形 97"/>
          <p:cNvSpPr/>
          <p:nvPr/>
        </p:nvSpPr>
        <p:spPr>
          <a:xfrm>
            <a:off x="10163175" y="2060575"/>
            <a:ext cx="483235" cy="360045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0646410" y="206057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本框 99"/>
              <p:cNvSpPr txBox="1"/>
              <p:nvPr/>
            </p:nvSpPr>
            <p:spPr>
              <a:xfrm>
                <a:off x="10156190" y="184912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0" name="文本框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6190" y="1849120"/>
                <a:ext cx="660400" cy="260350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/>
          <p:cNvSpPr/>
          <p:nvPr/>
        </p:nvSpPr>
        <p:spPr>
          <a:xfrm>
            <a:off x="10998200" y="2060575"/>
            <a:ext cx="483235" cy="360045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11481435" y="206057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/>
              <p:cNvSpPr txBox="1"/>
              <p:nvPr/>
            </p:nvSpPr>
            <p:spPr>
              <a:xfrm>
                <a:off x="10991215" y="184912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215" y="1849120"/>
                <a:ext cx="660400" cy="260350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矩形 113"/>
          <p:cNvSpPr/>
          <p:nvPr/>
        </p:nvSpPr>
        <p:spPr>
          <a:xfrm>
            <a:off x="6792595" y="2806700"/>
            <a:ext cx="483235" cy="360045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275830" y="2806700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本框 115"/>
              <p:cNvSpPr txBox="1"/>
              <p:nvPr/>
            </p:nvSpPr>
            <p:spPr>
              <a:xfrm>
                <a:off x="6785610" y="3134995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6" name="文本框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610" y="3134995"/>
                <a:ext cx="660400" cy="260350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矩形 116"/>
          <p:cNvSpPr/>
          <p:nvPr/>
        </p:nvSpPr>
        <p:spPr>
          <a:xfrm>
            <a:off x="7639050" y="2804795"/>
            <a:ext cx="483235" cy="360045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122285" y="280479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/>
              <p:cNvSpPr txBox="1"/>
              <p:nvPr/>
            </p:nvSpPr>
            <p:spPr>
              <a:xfrm>
                <a:off x="7632065" y="313309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065" y="3133090"/>
                <a:ext cx="660400" cy="26035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 122"/>
          <p:cNvSpPr/>
          <p:nvPr/>
        </p:nvSpPr>
        <p:spPr>
          <a:xfrm>
            <a:off x="8474710" y="2804795"/>
            <a:ext cx="483235" cy="360045"/>
          </a:xfrm>
          <a:prstGeom prst="rect">
            <a:avLst/>
          </a:prstGeom>
          <a:solidFill>
            <a:srgbClr val="1485A4"/>
          </a:solidFill>
          <a:ln w="9525" algn="ctr">
            <a:solidFill>
              <a:srgbClr val="1485A4"/>
            </a:solidFill>
            <a:round/>
          </a:ln>
        </p:spPr>
        <p:txBody>
          <a:bodyPr wrap="none" lIns="16200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Pct val="80000"/>
              <a:buFont typeface="Wingdings" panose="05000000000000000000" pitchFamily="2" charset="2"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8957945" y="2804795"/>
            <a:ext cx="170180" cy="360045"/>
          </a:xfrm>
          <a:prstGeom prst="rect">
            <a:avLst/>
          </a:prstGeom>
          <a:solidFill>
            <a:srgbClr val="9AA6B2"/>
          </a:solidFill>
          <a:ln w="9525" algn="ctr">
            <a:solidFill>
              <a:srgbClr val="9AA6B2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本框 124"/>
              <p:cNvSpPr txBox="1"/>
              <p:nvPr/>
            </p:nvSpPr>
            <p:spPr>
              <a:xfrm>
                <a:off x="8467725" y="3133090"/>
                <a:ext cx="660400" cy="26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𝒍𝒂𝒖𝒏𝒄</m:t>
                      </m:r>
                      <m:sSub>
                        <m:sSubPr>
                          <m:ctrlP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1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11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5" name="文本框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725" y="3133090"/>
                <a:ext cx="660400" cy="260350"/>
              </a:xfrm>
              <a:prstGeom prst="rect">
                <a:avLst/>
              </a:prstGeom>
              <a:blipFill rotWithShape="1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矩形 128"/>
          <p:cNvSpPr/>
          <p:nvPr/>
        </p:nvSpPr>
        <p:spPr>
          <a:xfrm>
            <a:off x="6718935" y="1871345"/>
            <a:ext cx="1644650" cy="612140"/>
          </a:xfrm>
          <a:prstGeom prst="rect">
            <a:avLst/>
          </a:prstGeom>
          <a:noFill/>
          <a:ln w="19050" cmpd="sng" algn="ctr">
            <a:solidFill>
              <a:srgbClr val="A6D5DE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8416925" y="1871345"/>
            <a:ext cx="1644650" cy="612140"/>
          </a:xfrm>
          <a:prstGeom prst="rect">
            <a:avLst/>
          </a:prstGeom>
          <a:noFill/>
          <a:ln w="19050" cmpd="sng" algn="ctr">
            <a:solidFill>
              <a:srgbClr val="A6D5DE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0111740" y="1871345"/>
            <a:ext cx="1644650" cy="612140"/>
          </a:xfrm>
          <a:prstGeom prst="rect">
            <a:avLst/>
          </a:prstGeom>
          <a:noFill/>
          <a:ln w="19050" cmpd="sng" algn="ctr">
            <a:solidFill>
              <a:srgbClr val="A6D5DE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1485A4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133" name="直接箭头连接符 132"/>
          <p:cNvCxnSpPr>
            <a:stCxn id="129" idx="2"/>
          </p:cNvCxnSpPr>
          <p:nvPr/>
        </p:nvCxnSpPr>
        <p:spPr>
          <a:xfrm flipH="1">
            <a:off x="7152640" y="2483485"/>
            <a:ext cx="388620" cy="278765"/>
          </a:xfrm>
          <a:prstGeom prst="straightConnector1">
            <a:avLst/>
          </a:prstGeom>
          <a:ln>
            <a:solidFill>
              <a:srgbClr val="A6D5D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>
            <a:stCxn id="131" idx="2"/>
          </p:cNvCxnSpPr>
          <p:nvPr/>
        </p:nvCxnSpPr>
        <p:spPr>
          <a:xfrm flipH="1">
            <a:off x="8016240" y="2483485"/>
            <a:ext cx="1223010" cy="278765"/>
          </a:xfrm>
          <a:prstGeom prst="straightConnector1">
            <a:avLst/>
          </a:prstGeom>
          <a:ln>
            <a:solidFill>
              <a:srgbClr val="A6D5D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>
            <a:stCxn id="132" idx="2"/>
          </p:cNvCxnSpPr>
          <p:nvPr/>
        </p:nvCxnSpPr>
        <p:spPr>
          <a:xfrm flipH="1">
            <a:off x="8825230" y="2483485"/>
            <a:ext cx="2108835" cy="285750"/>
          </a:xfrm>
          <a:prstGeom prst="straightConnector1">
            <a:avLst/>
          </a:prstGeom>
          <a:ln>
            <a:solidFill>
              <a:srgbClr val="A6D5D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/>
        </p:nvSpPr>
        <p:spPr>
          <a:xfrm>
            <a:off x="6591935" y="3397250"/>
            <a:ext cx="4241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1485A4"/>
                </a:solidFill>
              </a:rPr>
              <a:t>After: Fused kernels</a:t>
            </a:r>
            <a:endParaRPr lang="en-US" altLang="zh-CN" sz="1400" b="1">
              <a:solidFill>
                <a:srgbClr val="1485A4"/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9194800" y="2806700"/>
            <a:ext cx="295338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>
                <a:latin typeface="微软雅黑" panose="020B0503020204020204" charset="-122"/>
                <a:ea typeface="微软雅黑" panose="020B0503020204020204" charset="-122"/>
                <a:cs typeface="Cambria Math" panose="02040503050406030204" charset="0"/>
              </a:rPr>
              <a:t>6 launches → 3 launches</a:t>
            </a:r>
            <a:endParaRPr lang="en-US" altLang="zh-CN" sz="1700" b="1">
              <a:latin typeface="微软雅黑" panose="020B0503020204020204" charset="-122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6697980" y="3740150"/>
            <a:ext cx="5175250" cy="7880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6718935" y="3790950"/>
            <a:ext cx="5255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- Fewer launches &amp; syncs Less fixed overheard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- No regression in large cases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000" b="1">
                <a:solidFill>
                  <a:srgbClr val="1485A4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bp*  matrices runtime reduces ~0.1ms</a:t>
            </a:r>
            <a:endParaRPr lang="en-US" altLang="zh-CN" sz="1000" b="1">
              <a:solidFill>
                <a:srgbClr val="1485A4"/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142" name="矩形: 圆角 38"/>
          <p:cNvSpPr/>
          <p:nvPr>
            <p:custDataLst>
              <p:tags r:id="rId36"/>
            </p:custDataLst>
          </p:nvPr>
        </p:nvSpPr>
        <p:spPr>
          <a:xfrm>
            <a:off x="6553835" y="4711065"/>
            <a:ext cx="5479415" cy="54356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Expand Range Tightening 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6677025" y="5361305"/>
            <a:ext cx="5175250" cy="11461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</a:ln>
        </p:spPr>
        <p:txBody>
          <a:bodyPr wrap="none" lIns="162000" anchor="ctr"/>
          <a:lstStyle/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rgbClr val="1485A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6697980" y="5412105"/>
            <a:ext cx="5255895" cy="1071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EXPAND is the safety factor on the hash-table size estimate; tightening it from 2.0× to 1.5×  cuts 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over-allocation 3.14×→2.29×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and 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saves 0.32 ms in compact+sort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7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3840" y="15240"/>
            <a:ext cx="9047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Scalability &amp; Cost Trade-off Analysis</a:t>
            </a:r>
            <a:endParaRPr kumimoji="1"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4"/>
          <p:cNvSpPr/>
          <p:nvPr>
            <p:custDataLst>
              <p:tags r:id="rId1"/>
            </p:custDataLst>
          </p:nvPr>
        </p:nvSpPr>
        <p:spPr>
          <a:xfrm>
            <a:off x="216535" y="1206500"/>
            <a:ext cx="5559425" cy="538797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39" name="矩形: 圆角 38"/>
          <p:cNvSpPr/>
          <p:nvPr>
            <p:custDataLst>
              <p:tags r:id="rId2"/>
            </p:custDataLst>
          </p:nvPr>
        </p:nvSpPr>
        <p:spPr>
          <a:xfrm>
            <a:off x="216535" y="827405"/>
            <a:ext cx="5560060" cy="54356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Cost Analysis 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: 圆角 4"/>
          <p:cNvSpPr/>
          <p:nvPr>
            <p:custDataLst>
              <p:tags r:id="rId3"/>
            </p:custDataLst>
          </p:nvPr>
        </p:nvSpPr>
        <p:spPr>
          <a:xfrm>
            <a:off x="6369685" y="1206500"/>
            <a:ext cx="5604510" cy="5387975"/>
          </a:xfrm>
          <a:prstGeom prst="roundRect">
            <a:avLst>
              <a:gd name="adj" fmla="val 2900"/>
            </a:avLst>
          </a:prstGeom>
          <a:noFill/>
          <a:ln w="19050" cap="flat" cmpd="sng" algn="ctr">
            <a:solidFill>
              <a:schemeClr val="tx1">
                <a:alpha val="20000"/>
              </a:schemeClr>
            </a:solidFill>
            <a:prstDash val="dash"/>
            <a:miter lim="800000"/>
          </a:ln>
          <a:effectLst>
            <a:outerShdw blurRad="88900" dist="38100" dir="5400000" algn="t" rotWithShape="0">
              <a:srgbClr val="0A4996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44A8"/>
              </a:solidFill>
            </a:endParaRPr>
          </a:p>
        </p:txBody>
      </p:sp>
      <p:sp>
        <p:nvSpPr>
          <p:cNvPr id="14" name="矩形: 圆角 38"/>
          <p:cNvSpPr/>
          <p:nvPr>
            <p:custDataLst>
              <p:tags r:id="rId4"/>
            </p:custDataLst>
          </p:nvPr>
        </p:nvSpPr>
        <p:spPr>
          <a:xfrm>
            <a:off x="6369685" y="827405"/>
            <a:ext cx="5604510" cy="543560"/>
          </a:xfrm>
          <a:prstGeom prst="roundRect">
            <a:avLst/>
          </a:prstGeom>
          <a:solidFill>
            <a:srgbClr val="0D7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Scalability Analysis 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、6、10、14、20、26、27、28、29、31、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11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12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3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4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5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6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7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18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19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20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2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22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23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27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28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29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33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34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35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36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37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  <p:tag name="RESOURCE_RECORD_KEY" val="{&quot;10&quot;:[50040666]}"/>
</p:tagLst>
</file>

<file path=ppt/tags/tag38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42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43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44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45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46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47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51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52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53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54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55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59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60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61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6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66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67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68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69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70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7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75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76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80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1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2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3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4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5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6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7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88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89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0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1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2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3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4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95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6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7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8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99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00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01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0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ISLIDE.ICON" val="#407037;#391934;#47638;"/>
</p:tagLst>
</file>

<file path=ppt/tags/tag103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104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05.xml><?xml version="1.0" encoding="utf-8"?>
<p:tagLst xmlns:p="http://schemas.openxmlformats.org/presentationml/2006/main">
  <p:tag name="SHADOWSIZE" val="90"/>
  <p:tag name="ADJUSTMENTS" val="1.547419"/>
  <p:tag name="KSO_WM_DIAGRAM_VIRTUALLY_FRAME" val="{&quot;height&quot;:378.508031496063,&quot;left&quot;:28.35,&quot;top&quot;:114.3,&quot;width&quot;:903.2540157480314}"/>
</p:tagLst>
</file>

<file path=ppt/tags/tag106.xml><?xml version="1.0" encoding="utf-8"?>
<p:tagLst xmlns:p="http://schemas.openxmlformats.org/presentationml/2006/main">
  <p:tag name="KSO_WM_DIAGRAM_VIRTUALLY_FRAME" val="{&quot;height&quot;:378.508031496063,&quot;left&quot;:28.35,&quot;top&quot;:114.3,&quot;width&quot;:903.2540157480314}"/>
</p:tagLst>
</file>

<file path=ppt/tags/tag107.xml><?xml version="1.0" encoding="utf-8"?>
<p:tagLst xmlns:p="http://schemas.openxmlformats.org/presentationml/2006/main">
  <p:tag name="KSO_WPP_MARK_KEY" val="6c9b29a6-5ddb-4632-a989-e759ccd65a8b"/>
  <p:tag name="COMMONDATA" val="eyJoZGlkIjoiNDcwNzE1OTY2M2Y2MWZlNWE0ZGRlNmUxZmVmM2U3YWQifQ=="/>
  <p:tag name="RESOURCE_RECORD_KEY" val="{&quot;10&quot;:[50040666],&quot;65&quot;:[20184553]}"/>
  <p:tag name="OPCH-CCD6944616259C7D3FA9B18B0AC067519135C15F3A0381103C7ADDA1B0DAC9B3" val="[{&quot;GradientColorId&quot;:&quot;&quot;,&quot;IsFree&quot;:true,&quot;IsGradient&quot;:false,&quot;ImagePath&quot;:&quot;&quot;,&quot;GradientColor&quot;:null,&quot;SimpleColor&quot;:&quot;#00B0F0&quot;}]"/>
</p:tagLst>
</file>

<file path=ppt/theme/theme1.xml><?xml version="1.0" encoding="utf-8"?>
<a:theme xmlns:a="http://schemas.openxmlformats.org/drawingml/2006/main" name="1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 algn="ctr">
          <a:solidFill>
            <a:sysClr val="window" lastClr="FFFFFF">
              <a:lumMod val="65000"/>
            </a:sysClr>
          </a:solidFill>
          <a:round/>
        </a:ln>
      </a:spPr>
      <a:bodyPr wrap="none" lIns="162000" anchor="ctr"/>
      <a:lstStyle>
        <a:defPPr marL="0" lvl="0" indent="0" algn="l" eaLnBrk="1" hangingPunct="1">
          <a:lnSpc>
            <a:spcPct val="130000"/>
          </a:lnSpc>
          <a:spcBef>
            <a:spcPct val="0"/>
          </a:spcBef>
          <a:buSzPct val="80000"/>
          <a:buFont typeface="Wingdings" panose="05000000000000000000" pitchFamily="2" charset="2"/>
          <a:buNone/>
          <a:defRPr lang="en-US" altLang="zh-CN" sz="2400" b="1" dirty="0">
            <a:solidFill>
              <a:srgbClr val="1485A4"/>
            </a:solidFill>
            <a:latin typeface="Times New Roman" panose="02020603050405020304" charset="0"/>
            <a:ea typeface="微软雅黑" panose="020B0503020204020204" charset="-122"/>
            <a:sym typeface="+mn-ea"/>
          </a:defRPr>
        </a:defPPr>
      </a:lstStyle>
    </a:sp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6104</Words>
  <Application>WPS 演示</Application>
  <PresentationFormat>宽屏</PresentationFormat>
  <Paragraphs>897</Paragraphs>
  <Slides>12</Slides>
  <Notes>10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微软雅黑</vt:lpstr>
      <vt:lpstr>黑体</vt:lpstr>
      <vt:lpstr>Garamond</vt:lpstr>
      <vt:lpstr>Calibri</vt:lpstr>
      <vt:lpstr>Wingdings</vt:lpstr>
      <vt:lpstr>Cambria Math</vt:lpstr>
      <vt:lpstr>Ms.Luce</vt:lpstr>
      <vt:lpstr>Segoe Print</vt:lpstr>
      <vt:lpstr>Wingdings 2</vt:lpstr>
      <vt:lpstr>Arial Unicode MS</vt:lpstr>
      <vt:lpstr>quote-cjk-patch</vt:lpstr>
      <vt:lpstr>1_Edge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薛薛薛翼舟</cp:lastModifiedBy>
  <cp:revision>2533</cp:revision>
  <dcterms:created xsi:type="dcterms:W3CDTF">2025-10-20T14:42:00Z</dcterms:created>
  <dcterms:modified xsi:type="dcterms:W3CDTF">2026-07-29T03:15:52Z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2052-12.1.0.26895</vt:lpwstr>
  </property>
  <property fmtid="{D5CDD505-2E9C-101B-9397-08002B2CF9AE}" pid="4" name="KSORubyTemplateID">
    <vt:lpwstr>2</vt:lpwstr>
  </property>
  <property fmtid="{D5CDD505-2E9C-101B-9397-08002B2CF9AE}" pid="5" name="ICV">
    <vt:lpwstr>4FCBEBFDE7C54198A740939E9D9BAD9A_13</vt:lpwstr>
  </property>
</Properties>
</file>